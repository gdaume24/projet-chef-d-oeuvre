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9" r:id="rId3"/>
    <p:sldId id="260" r:id="rId4"/>
    <p:sldId id="262" r:id="rId5"/>
    <p:sldId id="263" r:id="rId6"/>
    <p:sldId id="264" r:id="rId7"/>
    <p:sldId id="265" r:id="rId8"/>
    <p:sldId id="266" r:id="rId9"/>
    <p:sldId id="267" r:id="rId10"/>
    <p:sldId id="268" r:id="rId11"/>
    <p:sldId id="269" r:id="rId12"/>
    <p:sldId id="270" r:id="rId13"/>
    <p:sldId id="271" r:id="rId14"/>
    <p:sldId id="274" r:id="rId15"/>
    <p:sldId id="276" r:id="rId16"/>
    <p:sldId id="272" r:id="rId17"/>
    <p:sldId id="273" r:id="rId18"/>
    <p:sldId id="277" r:id="rId19"/>
    <p:sldId id="280" r:id="rId20"/>
    <p:sldId id="283" r:id="rId21"/>
    <p:sldId id="284" r:id="rId22"/>
    <p:sldId id="285" r:id="rId23"/>
    <p:sldId id="286" r:id="rId24"/>
    <p:sldId id="287" r:id="rId25"/>
    <p:sldId id="288" r:id="rId26"/>
    <p:sldId id="289" r:id="rId27"/>
    <p:sldId id="290" r:id="rId28"/>
    <p:sldId id="291" r:id="rId29"/>
    <p:sldId id="292" r:id="rId30"/>
    <p:sldId id="293" r:id="rId31"/>
    <p:sldId id="258" r:id="rId32"/>
    <p:sldId id="279" r:id="rId33"/>
    <p:sldId id="282" r:id="rId3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12" d="100"/>
          <a:sy n="112" d="100"/>
        </p:scale>
        <p:origin x="7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FE0C24-F68F-4E5D-B7EE-DD5107D4A260}" type="datetimeFigureOut">
              <a:rPr lang="fr-FR" smtClean="0"/>
              <a:t>22/03/2024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AB49C7-41D5-4891-8EE8-309F74BEF086}" type="slidenum">
              <a:rPr lang="fr-FR" smtClean="0"/>
              <a:t>‹N°›</a:t>
            </a:fld>
            <a:endParaRPr lang="fr-FR"/>
          </a:p>
        </p:txBody>
      </p:sp>
    </p:spTree>
    <p:extLst>
      <p:ext uri="{BB962C8B-B14F-4D97-AF65-F5344CB8AC3E}">
        <p14:creationId xmlns:p14="http://schemas.microsoft.com/office/powerpoint/2010/main" val="3800378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3</a:t>
            </a:fld>
            <a:endParaRPr lang="fr-FR"/>
          </a:p>
        </p:txBody>
      </p:sp>
    </p:spTree>
    <p:extLst>
      <p:ext uri="{BB962C8B-B14F-4D97-AF65-F5344CB8AC3E}">
        <p14:creationId xmlns:p14="http://schemas.microsoft.com/office/powerpoint/2010/main" val="1847880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aseline="0" dirty="0" smtClean="0"/>
              <a:t>Aspect du jeu de données, les questions portent en majorité sur l'employeur et la santé mentale</a:t>
            </a: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4</a:t>
            </a:fld>
            <a:endParaRPr lang="fr-FR"/>
          </a:p>
        </p:txBody>
      </p:sp>
    </p:spTree>
    <p:extLst>
      <p:ext uri="{BB962C8B-B14F-4D97-AF65-F5344CB8AC3E}">
        <p14:creationId xmlns:p14="http://schemas.microsoft.com/office/powerpoint/2010/main" val="10634856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5</a:t>
            </a:fld>
            <a:endParaRPr lang="fr-FR"/>
          </a:p>
        </p:txBody>
      </p:sp>
    </p:spTree>
    <p:extLst>
      <p:ext uri="{BB962C8B-B14F-4D97-AF65-F5344CB8AC3E}">
        <p14:creationId xmlns:p14="http://schemas.microsoft.com/office/powerpoint/2010/main" val="12686076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6</a:t>
            </a:fld>
            <a:endParaRPr lang="fr-FR"/>
          </a:p>
        </p:txBody>
      </p:sp>
    </p:spTree>
    <p:extLst>
      <p:ext uri="{BB962C8B-B14F-4D97-AF65-F5344CB8AC3E}">
        <p14:creationId xmlns:p14="http://schemas.microsoft.com/office/powerpoint/2010/main" val="11837933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7</a:t>
            </a:fld>
            <a:endParaRPr lang="fr-FR"/>
          </a:p>
        </p:txBody>
      </p:sp>
    </p:spTree>
    <p:extLst>
      <p:ext uri="{BB962C8B-B14F-4D97-AF65-F5344CB8AC3E}">
        <p14:creationId xmlns:p14="http://schemas.microsoft.com/office/powerpoint/2010/main" val="25671768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smtClean="0"/>
              <a:t>Comptes rendus d'avancement : 3 réunions</a:t>
            </a:r>
            <a:r>
              <a:rPr lang="fr-FR" baseline="0" dirty="0" smtClean="0"/>
              <a:t> : présentation de l'analyse exploratoire des données, présentation du modèle, présentation de l'application terminée. Le client m'a demandé de lui expliquer le fonctionnement de l'algorithme utilisé, c'était </a:t>
            </a:r>
            <a:r>
              <a:rPr lang="fr-FR" baseline="0" dirty="0" err="1" smtClean="0"/>
              <a:t>intéréssant</a:t>
            </a:r>
            <a:r>
              <a:rPr lang="fr-FR" baseline="0" dirty="0" smtClean="0"/>
              <a:t> car j'ai dû comprendre son fonctionnement exact.</a:t>
            </a: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8</a:t>
            </a:fld>
            <a:endParaRPr lang="fr-FR"/>
          </a:p>
        </p:txBody>
      </p:sp>
    </p:spTree>
    <p:extLst>
      <p:ext uri="{BB962C8B-B14F-4D97-AF65-F5344CB8AC3E}">
        <p14:creationId xmlns:p14="http://schemas.microsoft.com/office/powerpoint/2010/main" val="19538815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9</a:t>
            </a:fld>
            <a:endParaRPr lang="fr-FR"/>
          </a:p>
        </p:txBody>
      </p:sp>
    </p:spTree>
    <p:extLst>
      <p:ext uri="{BB962C8B-B14F-4D97-AF65-F5344CB8AC3E}">
        <p14:creationId xmlns:p14="http://schemas.microsoft.com/office/powerpoint/2010/main" val="26644776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10</a:t>
            </a:fld>
            <a:endParaRPr lang="fr-FR"/>
          </a:p>
        </p:txBody>
      </p:sp>
    </p:spTree>
    <p:extLst>
      <p:ext uri="{BB962C8B-B14F-4D97-AF65-F5344CB8AC3E}">
        <p14:creationId xmlns:p14="http://schemas.microsoft.com/office/powerpoint/2010/main" val="3128976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On constate que les personnes ayant des antécédents familiaux ont plus de chance d'avoir déjà fait une demande de traitement.</a:t>
            </a:r>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11</a:t>
            </a:fld>
            <a:endParaRPr lang="fr-FR"/>
          </a:p>
        </p:txBody>
      </p:sp>
    </p:spTree>
    <p:extLst>
      <p:ext uri="{BB962C8B-B14F-4D97-AF65-F5344CB8AC3E}">
        <p14:creationId xmlns:p14="http://schemas.microsoft.com/office/powerpoint/2010/main" val="28970038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Plus la fréquence d'</a:t>
            </a:r>
            <a:r>
              <a:rPr lang="fr-FR" sz="1200" kern="1200" dirty="0" err="1" smtClean="0">
                <a:solidFill>
                  <a:schemeClr val="tx1"/>
                </a:solidFill>
                <a:effectLst/>
                <a:latin typeface="+mn-lt"/>
                <a:ea typeface="+mn-ea"/>
                <a:cs typeface="+mn-cs"/>
              </a:rPr>
              <a:t>interfération</a:t>
            </a:r>
            <a:r>
              <a:rPr lang="fr-FR" sz="1200" kern="1200" dirty="0" smtClean="0">
                <a:solidFill>
                  <a:schemeClr val="tx1"/>
                </a:solidFill>
                <a:effectLst/>
                <a:latin typeface="+mn-lt"/>
                <a:ea typeface="+mn-ea"/>
                <a:cs typeface="+mn-cs"/>
              </a:rPr>
              <a:t> du problème mental avec le travail est grande, plus il y a de chance pour que la personne ait déjà demandé un traitement.</a:t>
            </a:r>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12</a:t>
            </a:fld>
            <a:endParaRPr lang="fr-FR"/>
          </a:p>
        </p:txBody>
      </p:sp>
    </p:spTree>
    <p:extLst>
      <p:ext uri="{BB962C8B-B14F-4D97-AF65-F5344CB8AC3E}">
        <p14:creationId xmlns:p14="http://schemas.microsoft.com/office/powerpoint/2010/main" val="27286168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Les personnes qui connaissent les prestations de l'entreprise en matière de santé mentale pour les salariés ont plus souvent fait une demande de traitement.</a:t>
            </a:r>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13</a:t>
            </a:fld>
            <a:endParaRPr lang="fr-FR"/>
          </a:p>
        </p:txBody>
      </p:sp>
    </p:spTree>
    <p:extLst>
      <p:ext uri="{BB962C8B-B14F-4D97-AF65-F5344CB8AC3E}">
        <p14:creationId xmlns:p14="http://schemas.microsoft.com/office/powerpoint/2010/main" val="6227338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Les gens qui répondent oui ont plus souvent fait une demande de traitement</a:t>
            </a:r>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14</a:t>
            </a:fld>
            <a:endParaRPr lang="fr-FR"/>
          </a:p>
        </p:txBody>
      </p:sp>
    </p:spTree>
    <p:extLst>
      <p:ext uri="{BB962C8B-B14F-4D97-AF65-F5344CB8AC3E}">
        <p14:creationId xmlns:p14="http://schemas.microsoft.com/office/powerpoint/2010/main" val="38973475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Les femmes sont plus sujettes à la demande de traitement.</a:t>
            </a:r>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15</a:t>
            </a:fld>
            <a:endParaRPr lang="fr-FR"/>
          </a:p>
        </p:txBody>
      </p:sp>
    </p:spTree>
    <p:extLst>
      <p:ext uri="{BB962C8B-B14F-4D97-AF65-F5344CB8AC3E}">
        <p14:creationId xmlns:p14="http://schemas.microsoft.com/office/powerpoint/2010/main" val="18876115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Les gens qui répondent oui ont plus souvent fait la demande d'un traitement, ceux qui ne savent pas n'en ont plus souvent pas fait.</a:t>
            </a:r>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16</a:t>
            </a:fld>
            <a:endParaRPr lang="fr-FR"/>
          </a:p>
        </p:txBody>
      </p:sp>
    </p:spTree>
    <p:extLst>
      <p:ext uri="{BB962C8B-B14F-4D97-AF65-F5344CB8AC3E}">
        <p14:creationId xmlns:p14="http://schemas.microsoft.com/office/powerpoint/2010/main" val="17362604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smtClean="0">
                <a:solidFill>
                  <a:schemeClr val="tx1"/>
                </a:solidFill>
                <a:effectLst/>
                <a:latin typeface="+mn-lt"/>
                <a:ea typeface="+mn-ea"/>
                <a:cs typeface="+mn-cs"/>
              </a:rPr>
              <a:t>Les gens qui pensent que le fait de discuter d'un problème de santé mentale avec leur employeur aurait des conséquences négatives ont plus souvent demandé un traitement. Pour ceux qui répondent non, ils ont moins souvent demandé un traitement.</a:t>
            </a:r>
            <a:endParaRPr lang="fr-FR" sz="1200"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17</a:t>
            </a:fld>
            <a:endParaRPr lang="fr-FR"/>
          </a:p>
        </p:txBody>
      </p:sp>
    </p:spTree>
    <p:extLst>
      <p:ext uri="{BB962C8B-B14F-4D97-AF65-F5344CB8AC3E}">
        <p14:creationId xmlns:p14="http://schemas.microsoft.com/office/powerpoint/2010/main" val="34524400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smtClean="0"/>
              <a:t>Les données peuvent être regroupées en une table simple, j'ai donc choisi une base de données relationnelle.</a:t>
            </a:r>
            <a:endParaRPr lang="fr-FR" dirty="0" smtClean="0"/>
          </a:p>
          <a:p>
            <a:pPr algn="l"/>
            <a:r>
              <a:rPr lang="fr-FR" dirty="0" smtClean="0"/>
              <a:t>Les MCD et MLD ont été effectués sur </a:t>
            </a:r>
            <a:r>
              <a:rPr lang="fr-FR" dirty="0" err="1" smtClean="0"/>
              <a:t>JMerise</a:t>
            </a: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18</a:t>
            </a:fld>
            <a:endParaRPr lang="fr-FR"/>
          </a:p>
        </p:txBody>
      </p:sp>
    </p:spTree>
    <p:extLst>
      <p:ext uri="{BB962C8B-B14F-4D97-AF65-F5344CB8AC3E}">
        <p14:creationId xmlns:p14="http://schemas.microsoft.com/office/powerpoint/2010/main" val="4023382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19</a:t>
            </a:fld>
            <a:endParaRPr lang="fr-FR"/>
          </a:p>
        </p:txBody>
      </p:sp>
    </p:spTree>
    <p:extLst>
      <p:ext uri="{BB962C8B-B14F-4D97-AF65-F5344CB8AC3E}">
        <p14:creationId xmlns:p14="http://schemas.microsoft.com/office/powerpoint/2010/main" val="32062159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smtClean="0"/>
              <a:t>Jupyter</a:t>
            </a:r>
            <a:r>
              <a:rPr lang="fr-FR" dirty="0" smtClean="0"/>
              <a:t> : </a:t>
            </a:r>
            <a:r>
              <a:rPr lang="fr-FR" dirty="0" smtClean="0"/>
              <a:t>Permet d'</a:t>
            </a:r>
            <a:r>
              <a:rPr lang="fr-FR" dirty="0" err="1" smtClean="0"/>
              <a:t>éxécuter</a:t>
            </a:r>
            <a:r>
              <a:rPr lang="fr-FR" dirty="0" smtClean="0"/>
              <a:t> du code python cellules par cellules, afin de faire des tests pour entraîner et évaluer des modèles</a:t>
            </a:r>
          </a:p>
          <a:p>
            <a:pPr marL="0" marR="0" indent="0" algn="l" defTabSz="914400" rtl="0" eaLnBrk="1" fontAlgn="auto" latinLnBrk="0" hangingPunct="1">
              <a:lnSpc>
                <a:spcPct val="100000"/>
              </a:lnSpc>
              <a:spcBef>
                <a:spcPts val="0"/>
              </a:spcBef>
              <a:spcAft>
                <a:spcPts val="0"/>
              </a:spcAft>
              <a:buClrTx/>
              <a:buSzTx/>
              <a:buFontTx/>
              <a:buNone/>
              <a:tabLst/>
              <a:defRPr/>
            </a:pPr>
            <a:r>
              <a:rPr lang="fr-FR" dirty="0" err="1" smtClean="0"/>
              <a:t>Scikit-learn</a:t>
            </a:r>
            <a:r>
              <a:rPr lang="fr-FR" dirty="0" smtClean="0"/>
              <a:t> : Librairie populaire pour faire le machine </a:t>
            </a:r>
            <a:r>
              <a:rPr lang="fr-FR" dirty="0" err="1" smtClean="0"/>
              <a:t>learning</a:t>
            </a:r>
            <a:r>
              <a:rPr lang="fr-FR" dirty="0" smtClean="0"/>
              <a:t>, comprend tous les modèles principaux.</a:t>
            </a:r>
          </a:p>
          <a:p>
            <a:endParaRPr lang="fr-FR" dirty="0" smtClean="0"/>
          </a:p>
          <a:p>
            <a:r>
              <a:rPr lang="fr-FR" dirty="0" smtClean="0"/>
              <a:t>Justification du</a:t>
            </a:r>
            <a:r>
              <a:rPr lang="fr-FR" baseline="0" dirty="0" smtClean="0"/>
              <a:t> choix des algorithmes ? Algorithmes qui ressortent le plus à l'issue de la veille technique</a:t>
            </a: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20</a:t>
            </a:fld>
            <a:endParaRPr lang="fr-FR"/>
          </a:p>
        </p:txBody>
      </p:sp>
    </p:spTree>
    <p:extLst>
      <p:ext uri="{BB962C8B-B14F-4D97-AF65-F5344CB8AC3E}">
        <p14:creationId xmlns:p14="http://schemas.microsoft.com/office/powerpoint/2010/main" val="41975707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smtClean="0"/>
              <a:t>Prétraitement</a:t>
            </a:r>
            <a:r>
              <a:rPr lang="fr-FR" baseline="0" dirty="0" smtClean="0"/>
              <a:t> des colonnes pour rendre les données interprétables à la même échelle par les modèles d'IA</a:t>
            </a: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21</a:t>
            </a:fld>
            <a:endParaRPr lang="fr-FR"/>
          </a:p>
        </p:txBody>
      </p:sp>
    </p:spTree>
    <p:extLst>
      <p:ext uri="{BB962C8B-B14F-4D97-AF65-F5344CB8AC3E}">
        <p14:creationId xmlns:p14="http://schemas.microsoft.com/office/powerpoint/2010/main" val="3720811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smtClean="0"/>
              <a:t>Jupyter</a:t>
            </a:r>
            <a:r>
              <a:rPr lang="fr-FR" dirty="0" smtClean="0"/>
              <a:t> : </a:t>
            </a:r>
            <a:r>
              <a:rPr lang="fr-FR" dirty="0" smtClean="0"/>
              <a:t>Permet d'</a:t>
            </a:r>
            <a:r>
              <a:rPr lang="fr-FR" dirty="0" err="1" smtClean="0"/>
              <a:t>éxécuter</a:t>
            </a:r>
            <a:r>
              <a:rPr lang="fr-FR" dirty="0" smtClean="0"/>
              <a:t> du code python cellules par cellules, afin de faire des tests pour entraîner et évaluer des modèles</a:t>
            </a:r>
          </a:p>
          <a:p>
            <a:pPr marL="0" marR="0" indent="0" algn="l" defTabSz="914400" rtl="0" eaLnBrk="1" fontAlgn="auto" latinLnBrk="0" hangingPunct="1">
              <a:lnSpc>
                <a:spcPct val="100000"/>
              </a:lnSpc>
              <a:spcBef>
                <a:spcPts val="0"/>
              </a:spcBef>
              <a:spcAft>
                <a:spcPts val="0"/>
              </a:spcAft>
              <a:buClrTx/>
              <a:buSzTx/>
              <a:buFontTx/>
              <a:buNone/>
              <a:tabLst/>
              <a:defRPr/>
            </a:pPr>
            <a:r>
              <a:rPr lang="fr-FR" dirty="0" err="1" smtClean="0"/>
              <a:t>Scikit-learn</a:t>
            </a:r>
            <a:r>
              <a:rPr lang="fr-FR" dirty="0" smtClean="0"/>
              <a:t> : Librairie populaire pour faire le machine </a:t>
            </a:r>
            <a:r>
              <a:rPr lang="fr-FR" dirty="0" err="1" smtClean="0"/>
              <a:t>learning</a:t>
            </a:r>
            <a:r>
              <a:rPr lang="fr-FR" dirty="0" smtClean="0"/>
              <a:t>, comprend tous les modèles principaux.</a:t>
            </a:r>
          </a:p>
          <a:p>
            <a:endParaRPr lang="fr-FR" dirty="0" smtClean="0"/>
          </a:p>
          <a:p>
            <a:r>
              <a:rPr lang="fr-FR" dirty="0" smtClean="0"/>
              <a:t>Justification du</a:t>
            </a:r>
            <a:r>
              <a:rPr lang="fr-FR" baseline="0" dirty="0" smtClean="0"/>
              <a:t> choix des algorithmes ? Algorithmes qui ressortent le plus à l'issue de la veille technique</a:t>
            </a: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22</a:t>
            </a:fld>
            <a:endParaRPr lang="fr-FR"/>
          </a:p>
        </p:txBody>
      </p:sp>
    </p:spTree>
    <p:extLst>
      <p:ext uri="{BB962C8B-B14F-4D97-AF65-F5344CB8AC3E}">
        <p14:creationId xmlns:p14="http://schemas.microsoft.com/office/powerpoint/2010/main" val="16795878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smtClean="0"/>
              <a:t>Explication du programme final : Les données d'entrées</a:t>
            </a:r>
            <a:r>
              <a:rPr lang="fr-FR" baseline="0" dirty="0" smtClean="0"/>
              <a:t> du questionnaire vont subir un </a:t>
            </a:r>
            <a:r>
              <a:rPr lang="fr-FR" baseline="0" dirty="0" err="1" smtClean="0"/>
              <a:t>preprocessing</a:t>
            </a:r>
            <a:r>
              <a:rPr lang="fr-FR" baseline="0" dirty="0" smtClean="0"/>
              <a:t> (</a:t>
            </a:r>
            <a:r>
              <a:rPr lang="fr-FR" baseline="0" dirty="0" err="1" smtClean="0"/>
              <a:t>ColumnTransformer</a:t>
            </a:r>
            <a:r>
              <a:rPr lang="fr-FR" baseline="0" dirty="0" smtClean="0"/>
              <a:t>), puis passer dans le modèle, pour retourner la prédiction.</a:t>
            </a: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23</a:t>
            </a:fld>
            <a:endParaRPr lang="fr-FR"/>
          </a:p>
        </p:txBody>
      </p:sp>
    </p:spTree>
    <p:extLst>
      <p:ext uri="{BB962C8B-B14F-4D97-AF65-F5344CB8AC3E}">
        <p14:creationId xmlns:p14="http://schemas.microsoft.com/office/powerpoint/2010/main" val="9294911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smtClean="0"/>
              <a:t>Sur l'application, lorsqu'un utilisateur aura rempli un questionnaire, il faut une fonctionnalité qui réalise la prédiction.</a:t>
            </a:r>
            <a:r>
              <a:rPr lang="fr-FR" dirty="0" smtClean="0"/>
              <a:t/>
            </a:r>
            <a:br>
              <a:rPr lang="fr-FR" dirty="0" smtClean="0"/>
            </a:br>
            <a:r>
              <a:rPr lang="fr-FR" dirty="0" smtClean="0"/>
              <a:t>Sur la flèche de gauche on a une fonctionnalité </a:t>
            </a:r>
            <a:r>
              <a:rPr lang="fr-FR" dirty="0" err="1" smtClean="0"/>
              <a:t>FastAPI</a:t>
            </a: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24</a:t>
            </a:fld>
            <a:endParaRPr lang="fr-FR"/>
          </a:p>
        </p:txBody>
      </p:sp>
    </p:spTree>
    <p:extLst>
      <p:ext uri="{BB962C8B-B14F-4D97-AF65-F5344CB8AC3E}">
        <p14:creationId xmlns:p14="http://schemas.microsoft.com/office/powerpoint/2010/main" val="33532256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smtClean="0"/>
              <a:t>Il y a une relation entre les tables donc on utilise une BDD relationnelle</a:t>
            </a: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25</a:t>
            </a:fld>
            <a:endParaRPr lang="fr-FR"/>
          </a:p>
        </p:txBody>
      </p:sp>
    </p:spTree>
    <p:extLst>
      <p:ext uri="{BB962C8B-B14F-4D97-AF65-F5344CB8AC3E}">
        <p14:creationId xmlns:p14="http://schemas.microsoft.com/office/powerpoint/2010/main" val="40736166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smtClean="0"/>
              <a:t>Créer les tables à </a:t>
            </a:r>
            <a:r>
              <a:rPr lang="fr-FR" sz="1200" dirty="0" err="1" smtClean="0"/>
              <a:t>pardu</a:t>
            </a:r>
            <a:r>
              <a:rPr lang="fr-FR" sz="1200" dirty="0" smtClean="0"/>
              <a:t> script SQL obtenu à partir du MLD </a:t>
            </a:r>
            <a:r>
              <a:rPr lang="fr-FR" sz="1200" dirty="0" err="1" smtClean="0"/>
              <a:t>Jmerise</a:t>
            </a:r>
            <a:endParaRPr lang="fr-FR"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smtClean="0"/>
              <a:t>Tester des insertions à distance via l'API </a:t>
            </a:r>
            <a:r>
              <a:rPr lang="fr-FR" sz="1200" dirty="0" err="1" smtClean="0"/>
              <a:t>FastAPI</a:t>
            </a:r>
            <a:endParaRPr lang="fr-FR"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smtClean="0"/>
              <a:t>Imbriquer les insertions dans les tir fonctionnalités de l'API</a:t>
            </a:r>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smtClean="0"/>
              <a:t>Tester la base sur l'application déployée</a:t>
            </a: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26</a:t>
            </a:fld>
            <a:endParaRPr lang="fr-FR"/>
          </a:p>
        </p:txBody>
      </p:sp>
    </p:spTree>
    <p:extLst>
      <p:ext uri="{BB962C8B-B14F-4D97-AF65-F5344CB8AC3E}">
        <p14:creationId xmlns:p14="http://schemas.microsoft.com/office/powerpoint/2010/main" val="15261905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smtClean="0"/>
              <a:t>Créer les tables à </a:t>
            </a:r>
            <a:r>
              <a:rPr lang="fr-FR" sz="1200" dirty="0" err="1" smtClean="0"/>
              <a:t>pardu</a:t>
            </a:r>
            <a:r>
              <a:rPr lang="fr-FR" sz="1200" dirty="0" smtClean="0"/>
              <a:t> script SQL obtenu à partir du MLD </a:t>
            </a:r>
            <a:r>
              <a:rPr lang="fr-FR" sz="1200" dirty="0" err="1" smtClean="0"/>
              <a:t>Jmerise</a:t>
            </a:r>
            <a:endParaRPr lang="fr-FR"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smtClean="0"/>
              <a:t>Tester des insertions à distance via l'API </a:t>
            </a:r>
            <a:r>
              <a:rPr lang="fr-FR" sz="1200" dirty="0" err="1" smtClean="0"/>
              <a:t>FastAPI</a:t>
            </a:r>
            <a:endParaRPr lang="fr-FR"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smtClean="0"/>
              <a:t>Imbriquer les insertions dans les tir fonctionnalités de l'API</a:t>
            </a:r>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smtClean="0"/>
              <a:t>Tester la base sur l'application déployée</a:t>
            </a: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27</a:t>
            </a:fld>
            <a:endParaRPr lang="fr-FR"/>
          </a:p>
        </p:txBody>
      </p:sp>
    </p:spTree>
    <p:extLst>
      <p:ext uri="{BB962C8B-B14F-4D97-AF65-F5344CB8AC3E}">
        <p14:creationId xmlns:p14="http://schemas.microsoft.com/office/powerpoint/2010/main" val="2860002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28</a:t>
            </a:fld>
            <a:endParaRPr lang="fr-FR"/>
          </a:p>
        </p:txBody>
      </p:sp>
    </p:spTree>
    <p:extLst>
      <p:ext uri="{BB962C8B-B14F-4D97-AF65-F5344CB8AC3E}">
        <p14:creationId xmlns:p14="http://schemas.microsoft.com/office/powerpoint/2010/main" val="15549041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smtClean="0"/>
              <a:t>L'application peut fonctionner sans le code</a:t>
            </a:r>
          </a:p>
          <a:p>
            <a:pPr marL="0" marR="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29</a:t>
            </a:fld>
            <a:endParaRPr lang="fr-FR"/>
          </a:p>
        </p:txBody>
      </p:sp>
    </p:spTree>
    <p:extLst>
      <p:ext uri="{BB962C8B-B14F-4D97-AF65-F5344CB8AC3E}">
        <p14:creationId xmlns:p14="http://schemas.microsoft.com/office/powerpoint/2010/main" val="28940373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smtClean="0"/>
              <a:t>Créer les tables à </a:t>
            </a:r>
            <a:r>
              <a:rPr lang="fr-FR" sz="1200" dirty="0" err="1" smtClean="0"/>
              <a:t>pardu</a:t>
            </a:r>
            <a:r>
              <a:rPr lang="fr-FR" sz="1200" dirty="0" smtClean="0"/>
              <a:t> script SQL obtenu à partir du MLD </a:t>
            </a:r>
            <a:r>
              <a:rPr lang="fr-FR" sz="1200" dirty="0" err="1" smtClean="0"/>
              <a:t>Jmerise</a:t>
            </a:r>
            <a:endParaRPr lang="fr-FR"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smtClean="0"/>
              <a:t>Tester des insertions à distance via l'API </a:t>
            </a:r>
            <a:r>
              <a:rPr lang="fr-FR" sz="1200" dirty="0" err="1" smtClean="0"/>
              <a:t>FastAPI</a:t>
            </a:r>
            <a:endParaRPr lang="fr-FR"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smtClean="0"/>
              <a:t>Imbriquer les insertions dans les tir fonctionnalités de l'API</a:t>
            </a:r>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smtClean="0"/>
              <a:t>Tester la base sur l'application déployée</a:t>
            </a:r>
            <a:endParaRPr lang="fr-FR" dirty="0"/>
          </a:p>
        </p:txBody>
      </p:sp>
      <p:sp>
        <p:nvSpPr>
          <p:cNvPr id="4" name="Espace réservé du numéro de diapositive 3"/>
          <p:cNvSpPr>
            <a:spLocks noGrp="1"/>
          </p:cNvSpPr>
          <p:nvPr>
            <p:ph type="sldNum" sz="quarter" idx="10"/>
          </p:nvPr>
        </p:nvSpPr>
        <p:spPr/>
        <p:txBody>
          <a:bodyPr/>
          <a:lstStyle/>
          <a:p>
            <a:fld id="{66AB49C7-41D5-4891-8EE8-309F74BEF086}" type="slidenum">
              <a:rPr lang="fr-FR" smtClean="0"/>
              <a:t>30</a:t>
            </a:fld>
            <a:endParaRPr lang="fr-FR"/>
          </a:p>
        </p:txBody>
      </p:sp>
    </p:spTree>
    <p:extLst>
      <p:ext uri="{BB962C8B-B14F-4D97-AF65-F5344CB8AC3E}">
        <p14:creationId xmlns:p14="http://schemas.microsoft.com/office/powerpoint/2010/main" val="17961702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0429FB-3793-ADC8-FCF5-3369A7707DD1}"/>
              </a:ext>
            </a:extLst>
          </p:cNvPr>
          <p:cNvSpPr>
            <a:spLocks noGrp="1"/>
          </p:cNvSpPr>
          <p:nvPr>
            <p:ph type="ctrTitle"/>
          </p:nvPr>
        </p:nvSpPr>
        <p:spPr>
          <a:xfrm>
            <a:off x="1524000" y="1122363"/>
            <a:ext cx="9144000" cy="2387600"/>
          </a:xfrm>
        </p:spPr>
        <p:txBody>
          <a:bodyPr anchor="b"/>
          <a:lstStyle>
            <a:lvl1pPr algn="ctr">
              <a:defRPr sz="6000"/>
            </a:lvl1pPr>
          </a:lstStyle>
          <a:p>
            <a:r>
              <a:rPr lang="fr-FR" dirty="0"/>
              <a:t>Modifiez le style du titre</a:t>
            </a:r>
          </a:p>
        </p:txBody>
      </p:sp>
      <p:sp>
        <p:nvSpPr>
          <p:cNvPr id="3" name="Sous-titre 2">
            <a:extLst>
              <a:ext uri="{FF2B5EF4-FFF2-40B4-BE49-F238E27FC236}">
                <a16:creationId xmlns:a16="http://schemas.microsoft.com/office/drawing/2014/main" id="{AAC2E294-74D7-32D1-449A-2D4DB80345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p>
        </p:txBody>
      </p:sp>
      <p:sp>
        <p:nvSpPr>
          <p:cNvPr id="4" name="Espace réservé de la date 3">
            <a:extLst>
              <a:ext uri="{FF2B5EF4-FFF2-40B4-BE49-F238E27FC236}">
                <a16:creationId xmlns:a16="http://schemas.microsoft.com/office/drawing/2014/main" id="{70E5441F-10A7-27CA-E8FF-52FF905D1B31}"/>
              </a:ext>
            </a:extLst>
          </p:cNvPr>
          <p:cNvSpPr>
            <a:spLocks noGrp="1"/>
          </p:cNvSpPr>
          <p:nvPr>
            <p:ph type="dt" sz="half" idx="10"/>
          </p:nvPr>
        </p:nvSpPr>
        <p:spPr/>
        <p:txBody>
          <a:bodyPr/>
          <a:lstStyle/>
          <a:p>
            <a:fld id="{1881C364-3579-4C44-8014-993F2536BA90}" type="datetimeFigureOut">
              <a:rPr lang="fr-FR" smtClean="0"/>
              <a:t>22/03/2024</a:t>
            </a:fld>
            <a:endParaRPr lang="fr-FR"/>
          </a:p>
        </p:txBody>
      </p:sp>
      <p:sp>
        <p:nvSpPr>
          <p:cNvPr id="5" name="Espace réservé du pied de page 4">
            <a:extLst>
              <a:ext uri="{FF2B5EF4-FFF2-40B4-BE49-F238E27FC236}">
                <a16:creationId xmlns:a16="http://schemas.microsoft.com/office/drawing/2014/main" id="{40789B19-3C0D-52CA-2E58-92DA5C3641F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365B0A3-0690-628D-96CB-F374104DC0B6}"/>
              </a:ext>
            </a:extLst>
          </p:cNvPr>
          <p:cNvSpPr>
            <a:spLocks noGrp="1"/>
          </p:cNvSpPr>
          <p:nvPr>
            <p:ph type="sldNum" sz="quarter" idx="12"/>
          </p:nvPr>
        </p:nvSpPr>
        <p:spPr/>
        <p:txBody>
          <a:bodyPr/>
          <a:lstStyle/>
          <a:p>
            <a:fld id="{BA06AB71-0B36-4B80-B991-039F7D68F8CB}" type="slidenum">
              <a:rPr lang="fr-FR" smtClean="0"/>
              <a:t>‹N°›</a:t>
            </a:fld>
            <a:endParaRPr lang="fr-FR"/>
          </a:p>
        </p:txBody>
      </p:sp>
    </p:spTree>
    <p:extLst>
      <p:ext uri="{BB962C8B-B14F-4D97-AF65-F5344CB8AC3E}">
        <p14:creationId xmlns:p14="http://schemas.microsoft.com/office/powerpoint/2010/main" val="2861635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580FE7-6ACB-AC02-5753-1D67A27BD9F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F321F852-ADCC-8449-A10D-AB044A539D4F}"/>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3D6B484-4B58-112B-D9A7-A507332A7AF6}"/>
              </a:ext>
            </a:extLst>
          </p:cNvPr>
          <p:cNvSpPr>
            <a:spLocks noGrp="1"/>
          </p:cNvSpPr>
          <p:nvPr>
            <p:ph type="dt" sz="half" idx="10"/>
          </p:nvPr>
        </p:nvSpPr>
        <p:spPr/>
        <p:txBody>
          <a:bodyPr/>
          <a:lstStyle/>
          <a:p>
            <a:fld id="{1881C364-3579-4C44-8014-993F2536BA90}" type="datetimeFigureOut">
              <a:rPr lang="fr-FR" smtClean="0"/>
              <a:t>22/03/2024</a:t>
            </a:fld>
            <a:endParaRPr lang="fr-FR"/>
          </a:p>
        </p:txBody>
      </p:sp>
      <p:sp>
        <p:nvSpPr>
          <p:cNvPr id="5" name="Espace réservé du pied de page 4">
            <a:extLst>
              <a:ext uri="{FF2B5EF4-FFF2-40B4-BE49-F238E27FC236}">
                <a16:creationId xmlns:a16="http://schemas.microsoft.com/office/drawing/2014/main" id="{B040F6B7-79F4-BC04-C476-50DEB7FCD34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DDB285C-939E-F492-EFF3-8855C31D4F15}"/>
              </a:ext>
            </a:extLst>
          </p:cNvPr>
          <p:cNvSpPr>
            <a:spLocks noGrp="1"/>
          </p:cNvSpPr>
          <p:nvPr>
            <p:ph type="sldNum" sz="quarter" idx="12"/>
          </p:nvPr>
        </p:nvSpPr>
        <p:spPr/>
        <p:txBody>
          <a:bodyPr/>
          <a:lstStyle/>
          <a:p>
            <a:fld id="{BA06AB71-0B36-4B80-B991-039F7D68F8CB}" type="slidenum">
              <a:rPr lang="fr-FR" smtClean="0"/>
              <a:t>‹N°›</a:t>
            </a:fld>
            <a:endParaRPr lang="fr-FR"/>
          </a:p>
        </p:txBody>
      </p:sp>
    </p:spTree>
    <p:extLst>
      <p:ext uri="{BB962C8B-B14F-4D97-AF65-F5344CB8AC3E}">
        <p14:creationId xmlns:p14="http://schemas.microsoft.com/office/powerpoint/2010/main" val="3971690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5409B9-80BE-5F51-E6EC-093EE1D84378}"/>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89626957-FFEE-FAE1-EAB4-06B6C911E0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32E5401-C6D0-39C6-68A9-0065DA08911D}"/>
              </a:ext>
            </a:extLst>
          </p:cNvPr>
          <p:cNvSpPr>
            <a:spLocks noGrp="1"/>
          </p:cNvSpPr>
          <p:nvPr>
            <p:ph type="dt" sz="half" idx="10"/>
          </p:nvPr>
        </p:nvSpPr>
        <p:spPr/>
        <p:txBody>
          <a:bodyPr/>
          <a:lstStyle/>
          <a:p>
            <a:fld id="{1881C364-3579-4C44-8014-993F2536BA90}" type="datetimeFigureOut">
              <a:rPr lang="fr-FR" smtClean="0"/>
              <a:t>22/03/2024</a:t>
            </a:fld>
            <a:endParaRPr lang="fr-FR"/>
          </a:p>
        </p:txBody>
      </p:sp>
      <p:sp>
        <p:nvSpPr>
          <p:cNvPr id="5" name="Espace réservé du pied de page 4">
            <a:extLst>
              <a:ext uri="{FF2B5EF4-FFF2-40B4-BE49-F238E27FC236}">
                <a16:creationId xmlns:a16="http://schemas.microsoft.com/office/drawing/2014/main" id="{CF43827E-18E5-BF2A-9E71-71F9AF717B3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EE15B19-53C5-287D-5BEC-8321A966932C}"/>
              </a:ext>
            </a:extLst>
          </p:cNvPr>
          <p:cNvSpPr>
            <a:spLocks noGrp="1"/>
          </p:cNvSpPr>
          <p:nvPr>
            <p:ph type="sldNum" sz="quarter" idx="12"/>
          </p:nvPr>
        </p:nvSpPr>
        <p:spPr/>
        <p:txBody>
          <a:bodyPr/>
          <a:lstStyle/>
          <a:p>
            <a:fld id="{BA06AB71-0B36-4B80-B991-039F7D68F8CB}" type="slidenum">
              <a:rPr lang="fr-FR" smtClean="0"/>
              <a:t>‹N°›</a:t>
            </a:fld>
            <a:endParaRPr lang="fr-FR"/>
          </a:p>
        </p:txBody>
      </p:sp>
    </p:spTree>
    <p:extLst>
      <p:ext uri="{BB962C8B-B14F-4D97-AF65-F5344CB8AC3E}">
        <p14:creationId xmlns:p14="http://schemas.microsoft.com/office/powerpoint/2010/main" val="1310660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0ED34E-1CE5-9269-A10C-202E8E8F3CF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CD163BA-02AF-1019-E0F8-BC86650ADFB0}"/>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4251730B-3448-A820-4D45-32781E826338}"/>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8E7C91C6-40DA-C1E2-191B-4276402E0197}"/>
              </a:ext>
            </a:extLst>
          </p:cNvPr>
          <p:cNvSpPr>
            <a:spLocks noGrp="1"/>
          </p:cNvSpPr>
          <p:nvPr>
            <p:ph type="dt" sz="half" idx="10"/>
          </p:nvPr>
        </p:nvSpPr>
        <p:spPr/>
        <p:txBody>
          <a:bodyPr/>
          <a:lstStyle/>
          <a:p>
            <a:fld id="{1881C364-3579-4C44-8014-993F2536BA90}" type="datetimeFigureOut">
              <a:rPr lang="fr-FR" smtClean="0"/>
              <a:t>22/03/2024</a:t>
            </a:fld>
            <a:endParaRPr lang="fr-FR"/>
          </a:p>
        </p:txBody>
      </p:sp>
      <p:sp>
        <p:nvSpPr>
          <p:cNvPr id="6" name="Espace réservé du pied de page 5">
            <a:extLst>
              <a:ext uri="{FF2B5EF4-FFF2-40B4-BE49-F238E27FC236}">
                <a16:creationId xmlns:a16="http://schemas.microsoft.com/office/drawing/2014/main" id="{0C3580D5-04E6-B6EF-962B-3E894DCECE7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9F80706-6921-2BCC-634D-AA7A0E50235C}"/>
              </a:ext>
            </a:extLst>
          </p:cNvPr>
          <p:cNvSpPr>
            <a:spLocks noGrp="1"/>
          </p:cNvSpPr>
          <p:nvPr>
            <p:ph type="sldNum" sz="quarter" idx="12"/>
          </p:nvPr>
        </p:nvSpPr>
        <p:spPr/>
        <p:txBody>
          <a:bodyPr/>
          <a:lstStyle/>
          <a:p>
            <a:fld id="{BA06AB71-0B36-4B80-B991-039F7D68F8CB}" type="slidenum">
              <a:rPr lang="fr-FR" smtClean="0"/>
              <a:t>‹N°›</a:t>
            </a:fld>
            <a:endParaRPr lang="fr-FR"/>
          </a:p>
        </p:txBody>
      </p:sp>
    </p:spTree>
    <p:extLst>
      <p:ext uri="{BB962C8B-B14F-4D97-AF65-F5344CB8AC3E}">
        <p14:creationId xmlns:p14="http://schemas.microsoft.com/office/powerpoint/2010/main" val="1223896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93038C-2931-D8FE-AD36-88304A061F9A}"/>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8C11667-41B7-30FB-F5B0-A20A603407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BF538D88-429A-A0D2-B7B0-23494BCAC7AD}"/>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47AC7FF3-EFFB-60CB-C4A2-00EDB1C7F3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5480F6D9-C0B8-0FC1-A865-B8A0C320FD4E}"/>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FBBB3276-8F88-0780-336A-1AA6A6C5079C}"/>
              </a:ext>
            </a:extLst>
          </p:cNvPr>
          <p:cNvSpPr>
            <a:spLocks noGrp="1"/>
          </p:cNvSpPr>
          <p:nvPr>
            <p:ph type="dt" sz="half" idx="10"/>
          </p:nvPr>
        </p:nvSpPr>
        <p:spPr/>
        <p:txBody>
          <a:bodyPr/>
          <a:lstStyle/>
          <a:p>
            <a:fld id="{1881C364-3579-4C44-8014-993F2536BA90}" type="datetimeFigureOut">
              <a:rPr lang="fr-FR" smtClean="0"/>
              <a:t>22/03/2024</a:t>
            </a:fld>
            <a:endParaRPr lang="fr-FR"/>
          </a:p>
        </p:txBody>
      </p:sp>
      <p:sp>
        <p:nvSpPr>
          <p:cNvPr id="8" name="Espace réservé du pied de page 7">
            <a:extLst>
              <a:ext uri="{FF2B5EF4-FFF2-40B4-BE49-F238E27FC236}">
                <a16:creationId xmlns:a16="http://schemas.microsoft.com/office/drawing/2014/main" id="{7A1C96D8-C687-774B-B1F9-5E672117BC32}"/>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F50557D3-79D2-CE55-2871-354987C69DAF}"/>
              </a:ext>
            </a:extLst>
          </p:cNvPr>
          <p:cNvSpPr>
            <a:spLocks noGrp="1"/>
          </p:cNvSpPr>
          <p:nvPr>
            <p:ph type="sldNum" sz="quarter" idx="12"/>
          </p:nvPr>
        </p:nvSpPr>
        <p:spPr/>
        <p:txBody>
          <a:bodyPr/>
          <a:lstStyle/>
          <a:p>
            <a:fld id="{BA06AB71-0B36-4B80-B991-039F7D68F8CB}" type="slidenum">
              <a:rPr lang="fr-FR" smtClean="0"/>
              <a:t>‹N°›</a:t>
            </a:fld>
            <a:endParaRPr lang="fr-FR"/>
          </a:p>
        </p:txBody>
      </p:sp>
    </p:spTree>
    <p:extLst>
      <p:ext uri="{BB962C8B-B14F-4D97-AF65-F5344CB8AC3E}">
        <p14:creationId xmlns:p14="http://schemas.microsoft.com/office/powerpoint/2010/main" val="4087929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D73BC1-8982-F8C9-4245-C31D7253C7AF}"/>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9AA45D38-B29B-32FF-3C30-E3AE09414FFC}"/>
              </a:ext>
            </a:extLst>
          </p:cNvPr>
          <p:cNvSpPr>
            <a:spLocks noGrp="1"/>
          </p:cNvSpPr>
          <p:nvPr>
            <p:ph type="dt" sz="half" idx="10"/>
          </p:nvPr>
        </p:nvSpPr>
        <p:spPr/>
        <p:txBody>
          <a:bodyPr/>
          <a:lstStyle/>
          <a:p>
            <a:fld id="{1881C364-3579-4C44-8014-993F2536BA90}" type="datetimeFigureOut">
              <a:rPr lang="fr-FR" smtClean="0"/>
              <a:t>22/03/2024</a:t>
            </a:fld>
            <a:endParaRPr lang="fr-FR"/>
          </a:p>
        </p:txBody>
      </p:sp>
      <p:sp>
        <p:nvSpPr>
          <p:cNvPr id="4" name="Espace réservé du pied de page 3">
            <a:extLst>
              <a:ext uri="{FF2B5EF4-FFF2-40B4-BE49-F238E27FC236}">
                <a16:creationId xmlns:a16="http://schemas.microsoft.com/office/drawing/2014/main" id="{6F3D7E88-6A3D-38CD-38C8-E64F458DAAAF}"/>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540C159-CD13-F3CB-F7F4-C344E5763F18}"/>
              </a:ext>
            </a:extLst>
          </p:cNvPr>
          <p:cNvSpPr>
            <a:spLocks noGrp="1"/>
          </p:cNvSpPr>
          <p:nvPr>
            <p:ph type="sldNum" sz="quarter" idx="12"/>
          </p:nvPr>
        </p:nvSpPr>
        <p:spPr/>
        <p:txBody>
          <a:bodyPr/>
          <a:lstStyle/>
          <a:p>
            <a:fld id="{BA06AB71-0B36-4B80-B991-039F7D68F8CB}" type="slidenum">
              <a:rPr lang="fr-FR" smtClean="0"/>
              <a:t>‹N°›</a:t>
            </a:fld>
            <a:endParaRPr lang="fr-FR"/>
          </a:p>
        </p:txBody>
      </p:sp>
    </p:spTree>
    <p:extLst>
      <p:ext uri="{BB962C8B-B14F-4D97-AF65-F5344CB8AC3E}">
        <p14:creationId xmlns:p14="http://schemas.microsoft.com/office/powerpoint/2010/main" val="1491356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E399715-803D-C498-F3FD-BD4F6B888120}"/>
              </a:ext>
            </a:extLst>
          </p:cNvPr>
          <p:cNvSpPr>
            <a:spLocks noGrp="1"/>
          </p:cNvSpPr>
          <p:nvPr>
            <p:ph type="dt" sz="half" idx="10"/>
          </p:nvPr>
        </p:nvSpPr>
        <p:spPr/>
        <p:txBody>
          <a:bodyPr/>
          <a:lstStyle/>
          <a:p>
            <a:fld id="{1881C364-3579-4C44-8014-993F2536BA90}" type="datetimeFigureOut">
              <a:rPr lang="fr-FR" smtClean="0"/>
              <a:t>22/03/2024</a:t>
            </a:fld>
            <a:endParaRPr lang="fr-FR"/>
          </a:p>
        </p:txBody>
      </p:sp>
      <p:sp>
        <p:nvSpPr>
          <p:cNvPr id="3" name="Espace réservé du pied de page 2">
            <a:extLst>
              <a:ext uri="{FF2B5EF4-FFF2-40B4-BE49-F238E27FC236}">
                <a16:creationId xmlns:a16="http://schemas.microsoft.com/office/drawing/2014/main" id="{8AB599FD-A88C-30D5-F3F8-ABD6CAF3BC4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A1C2C1B9-DE96-6360-08E7-B712235D8525}"/>
              </a:ext>
            </a:extLst>
          </p:cNvPr>
          <p:cNvSpPr>
            <a:spLocks noGrp="1"/>
          </p:cNvSpPr>
          <p:nvPr>
            <p:ph type="sldNum" sz="quarter" idx="12"/>
          </p:nvPr>
        </p:nvSpPr>
        <p:spPr/>
        <p:txBody>
          <a:bodyPr/>
          <a:lstStyle/>
          <a:p>
            <a:fld id="{BA06AB71-0B36-4B80-B991-039F7D68F8CB}" type="slidenum">
              <a:rPr lang="fr-FR" smtClean="0"/>
              <a:t>‹N°›</a:t>
            </a:fld>
            <a:endParaRPr lang="fr-FR"/>
          </a:p>
        </p:txBody>
      </p:sp>
    </p:spTree>
    <p:extLst>
      <p:ext uri="{BB962C8B-B14F-4D97-AF65-F5344CB8AC3E}">
        <p14:creationId xmlns:p14="http://schemas.microsoft.com/office/powerpoint/2010/main" val="1386255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2EE00A-E947-5130-FB25-6B040B051BB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EBFA1AF6-D005-8DF0-08C7-D6448BF607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DCB05E61-E65B-782E-F869-C5B099909A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5084CE5-3380-5D08-5F2D-9D33B4F3335D}"/>
              </a:ext>
            </a:extLst>
          </p:cNvPr>
          <p:cNvSpPr>
            <a:spLocks noGrp="1"/>
          </p:cNvSpPr>
          <p:nvPr>
            <p:ph type="dt" sz="half" idx="10"/>
          </p:nvPr>
        </p:nvSpPr>
        <p:spPr/>
        <p:txBody>
          <a:bodyPr/>
          <a:lstStyle/>
          <a:p>
            <a:fld id="{1881C364-3579-4C44-8014-993F2536BA90}" type="datetimeFigureOut">
              <a:rPr lang="fr-FR" smtClean="0"/>
              <a:t>22/03/2024</a:t>
            </a:fld>
            <a:endParaRPr lang="fr-FR"/>
          </a:p>
        </p:txBody>
      </p:sp>
      <p:sp>
        <p:nvSpPr>
          <p:cNvPr id="6" name="Espace réservé du pied de page 5">
            <a:extLst>
              <a:ext uri="{FF2B5EF4-FFF2-40B4-BE49-F238E27FC236}">
                <a16:creationId xmlns:a16="http://schemas.microsoft.com/office/drawing/2014/main" id="{7CE6BC47-1260-0B4C-7F41-FB483A4D2B1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808477A-8D54-71AD-A35B-235FF1BD0D68}"/>
              </a:ext>
            </a:extLst>
          </p:cNvPr>
          <p:cNvSpPr>
            <a:spLocks noGrp="1"/>
          </p:cNvSpPr>
          <p:nvPr>
            <p:ph type="sldNum" sz="quarter" idx="12"/>
          </p:nvPr>
        </p:nvSpPr>
        <p:spPr/>
        <p:txBody>
          <a:bodyPr/>
          <a:lstStyle/>
          <a:p>
            <a:fld id="{BA06AB71-0B36-4B80-B991-039F7D68F8CB}" type="slidenum">
              <a:rPr lang="fr-FR" smtClean="0"/>
              <a:t>‹N°›</a:t>
            </a:fld>
            <a:endParaRPr lang="fr-FR"/>
          </a:p>
        </p:txBody>
      </p:sp>
    </p:spTree>
    <p:extLst>
      <p:ext uri="{BB962C8B-B14F-4D97-AF65-F5344CB8AC3E}">
        <p14:creationId xmlns:p14="http://schemas.microsoft.com/office/powerpoint/2010/main" val="3871032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F1FBFB-3E7D-AD2C-39FA-E2D986E113A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D4F651C-FF99-6FDE-504D-EB795593E4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4" name="Espace réservé du texte 3">
            <a:extLst>
              <a:ext uri="{FF2B5EF4-FFF2-40B4-BE49-F238E27FC236}">
                <a16:creationId xmlns:a16="http://schemas.microsoft.com/office/drawing/2014/main" id="{56E7F4CF-50A6-C5B7-A5E0-46F547983C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36BE4A0-F927-AC7F-8F72-80176E8CC5FF}"/>
              </a:ext>
            </a:extLst>
          </p:cNvPr>
          <p:cNvSpPr>
            <a:spLocks noGrp="1"/>
          </p:cNvSpPr>
          <p:nvPr>
            <p:ph type="dt" sz="half" idx="10"/>
          </p:nvPr>
        </p:nvSpPr>
        <p:spPr/>
        <p:txBody>
          <a:bodyPr/>
          <a:lstStyle/>
          <a:p>
            <a:fld id="{1881C364-3579-4C44-8014-993F2536BA90}" type="datetimeFigureOut">
              <a:rPr lang="fr-FR" smtClean="0"/>
              <a:t>22/03/2024</a:t>
            </a:fld>
            <a:endParaRPr lang="fr-FR"/>
          </a:p>
        </p:txBody>
      </p:sp>
      <p:sp>
        <p:nvSpPr>
          <p:cNvPr id="6" name="Espace réservé du pied de page 5">
            <a:extLst>
              <a:ext uri="{FF2B5EF4-FFF2-40B4-BE49-F238E27FC236}">
                <a16:creationId xmlns:a16="http://schemas.microsoft.com/office/drawing/2014/main" id="{1493EA3D-25D4-FFD7-A7A3-24818B2C324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774C359-5230-4628-835D-BDB79311B231}"/>
              </a:ext>
            </a:extLst>
          </p:cNvPr>
          <p:cNvSpPr>
            <a:spLocks noGrp="1"/>
          </p:cNvSpPr>
          <p:nvPr>
            <p:ph type="sldNum" sz="quarter" idx="12"/>
          </p:nvPr>
        </p:nvSpPr>
        <p:spPr/>
        <p:txBody>
          <a:bodyPr/>
          <a:lstStyle/>
          <a:p>
            <a:fld id="{BA06AB71-0B36-4B80-B991-039F7D68F8CB}" type="slidenum">
              <a:rPr lang="fr-FR" smtClean="0"/>
              <a:t>‹N°›</a:t>
            </a:fld>
            <a:endParaRPr lang="fr-FR"/>
          </a:p>
        </p:txBody>
      </p:sp>
    </p:spTree>
    <p:extLst>
      <p:ext uri="{BB962C8B-B14F-4D97-AF65-F5344CB8AC3E}">
        <p14:creationId xmlns:p14="http://schemas.microsoft.com/office/powerpoint/2010/main" val="4183524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07F51B-BA0C-D085-D8C4-D74267BCD8A4}"/>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2BE89500-BA5B-6F75-64C7-3D3D61B77DC3}"/>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5DA3F00-A589-2B3B-C46A-1FB2134CD74F}"/>
              </a:ext>
            </a:extLst>
          </p:cNvPr>
          <p:cNvSpPr>
            <a:spLocks noGrp="1"/>
          </p:cNvSpPr>
          <p:nvPr>
            <p:ph type="dt" sz="half" idx="10"/>
          </p:nvPr>
        </p:nvSpPr>
        <p:spPr/>
        <p:txBody>
          <a:bodyPr/>
          <a:lstStyle/>
          <a:p>
            <a:fld id="{1881C364-3579-4C44-8014-993F2536BA90}" type="datetimeFigureOut">
              <a:rPr lang="fr-FR" smtClean="0"/>
              <a:t>22/03/2024</a:t>
            </a:fld>
            <a:endParaRPr lang="fr-FR"/>
          </a:p>
        </p:txBody>
      </p:sp>
      <p:sp>
        <p:nvSpPr>
          <p:cNvPr id="5" name="Espace réservé du pied de page 4">
            <a:extLst>
              <a:ext uri="{FF2B5EF4-FFF2-40B4-BE49-F238E27FC236}">
                <a16:creationId xmlns:a16="http://schemas.microsoft.com/office/drawing/2014/main" id="{5E27479B-F27E-BAD2-6D25-2AE3E9E1DB4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9179279-1028-617F-81FE-600257A28408}"/>
              </a:ext>
            </a:extLst>
          </p:cNvPr>
          <p:cNvSpPr>
            <a:spLocks noGrp="1"/>
          </p:cNvSpPr>
          <p:nvPr>
            <p:ph type="sldNum" sz="quarter" idx="12"/>
          </p:nvPr>
        </p:nvSpPr>
        <p:spPr/>
        <p:txBody>
          <a:bodyPr/>
          <a:lstStyle/>
          <a:p>
            <a:fld id="{BA06AB71-0B36-4B80-B991-039F7D68F8CB}" type="slidenum">
              <a:rPr lang="fr-FR" smtClean="0"/>
              <a:t>‹N°›</a:t>
            </a:fld>
            <a:endParaRPr lang="fr-FR"/>
          </a:p>
        </p:txBody>
      </p:sp>
    </p:spTree>
    <p:extLst>
      <p:ext uri="{BB962C8B-B14F-4D97-AF65-F5344CB8AC3E}">
        <p14:creationId xmlns:p14="http://schemas.microsoft.com/office/powerpoint/2010/main" val="3640831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BF1AF93-0D8B-0870-AF15-A787AAF3DD1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1089EDC-A0F5-6D11-2C9D-928B41118C0D}"/>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A139499-AA0B-7133-9B08-1363E5F5D12D}"/>
              </a:ext>
            </a:extLst>
          </p:cNvPr>
          <p:cNvSpPr>
            <a:spLocks noGrp="1"/>
          </p:cNvSpPr>
          <p:nvPr>
            <p:ph type="dt" sz="half" idx="10"/>
          </p:nvPr>
        </p:nvSpPr>
        <p:spPr/>
        <p:txBody>
          <a:bodyPr/>
          <a:lstStyle/>
          <a:p>
            <a:fld id="{1881C364-3579-4C44-8014-993F2536BA90}" type="datetimeFigureOut">
              <a:rPr lang="fr-FR" smtClean="0"/>
              <a:t>22/03/2024</a:t>
            </a:fld>
            <a:endParaRPr lang="fr-FR"/>
          </a:p>
        </p:txBody>
      </p:sp>
      <p:sp>
        <p:nvSpPr>
          <p:cNvPr id="5" name="Espace réservé du pied de page 4">
            <a:extLst>
              <a:ext uri="{FF2B5EF4-FFF2-40B4-BE49-F238E27FC236}">
                <a16:creationId xmlns:a16="http://schemas.microsoft.com/office/drawing/2014/main" id="{D4D9EF0C-935F-82C6-2826-1115D1A2714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BA3F3ED-99BD-2AFA-016C-5A3305DAC965}"/>
              </a:ext>
            </a:extLst>
          </p:cNvPr>
          <p:cNvSpPr>
            <a:spLocks noGrp="1"/>
          </p:cNvSpPr>
          <p:nvPr>
            <p:ph type="sldNum" sz="quarter" idx="12"/>
          </p:nvPr>
        </p:nvSpPr>
        <p:spPr/>
        <p:txBody>
          <a:bodyPr/>
          <a:lstStyle/>
          <a:p>
            <a:fld id="{BA06AB71-0B36-4B80-B991-039F7D68F8CB}" type="slidenum">
              <a:rPr lang="fr-FR" smtClean="0"/>
              <a:t>‹N°›</a:t>
            </a:fld>
            <a:endParaRPr lang="fr-FR"/>
          </a:p>
        </p:txBody>
      </p:sp>
    </p:spTree>
    <p:extLst>
      <p:ext uri="{BB962C8B-B14F-4D97-AF65-F5344CB8AC3E}">
        <p14:creationId xmlns:p14="http://schemas.microsoft.com/office/powerpoint/2010/main" val="122448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8382372-576F-7D7E-22FB-7C8454C48A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795C7F79-75ED-ED1F-315E-E51B7CCE18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25F3614-CB1F-3B91-0240-C49D4116D5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81C364-3579-4C44-8014-993F2536BA90}" type="datetimeFigureOut">
              <a:rPr lang="fr-FR" smtClean="0"/>
              <a:t>22/03/2024</a:t>
            </a:fld>
            <a:endParaRPr lang="fr-FR"/>
          </a:p>
        </p:txBody>
      </p:sp>
      <p:sp>
        <p:nvSpPr>
          <p:cNvPr id="5" name="Espace réservé du pied de page 4">
            <a:extLst>
              <a:ext uri="{FF2B5EF4-FFF2-40B4-BE49-F238E27FC236}">
                <a16:creationId xmlns:a16="http://schemas.microsoft.com/office/drawing/2014/main" id="{54E215AF-B391-7C9E-57FC-AF2C445B5D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3CE0EF71-0401-FFEB-EB6A-958A2BE4B0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A06AB71-0B36-4B80-B991-039F7D68F8CB}" type="slidenum">
              <a:rPr lang="fr-FR" smtClean="0"/>
              <a:t>‹N°›</a:t>
            </a:fld>
            <a:endParaRPr lang="fr-FR"/>
          </a:p>
        </p:txBody>
      </p:sp>
    </p:spTree>
    <p:extLst>
      <p:ext uri="{BB962C8B-B14F-4D97-AF65-F5344CB8AC3E}">
        <p14:creationId xmlns:p14="http://schemas.microsoft.com/office/powerpoint/2010/main" val="19247040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56023B-C1FB-06CE-47C5-115060AAA268}"/>
              </a:ext>
            </a:extLst>
          </p:cNvPr>
          <p:cNvSpPr>
            <a:spLocks noGrp="1"/>
          </p:cNvSpPr>
          <p:nvPr>
            <p:ph type="ctrTitle"/>
          </p:nvPr>
        </p:nvSpPr>
        <p:spPr>
          <a:xfrm>
            <a:off x="442451" y="1140363"/>
            <a:ext cx="11307097" cy="1366685"/>
          </a:xfrm>
        </p:spPr>
        <p:txBody>
          <a:bodyPr/>
          <a:lstStyle/>
          <a:p>
            <a:r>
              <a:rPr lang="fr-BJ" dirty="0"/>
              <a:t>Présentation du projet chef d’</a:t>
            </a:r>
            <a:r>
              <a:rPr lang="fr-FR" dirty="0"/>
              <a:t>œuvre</a:t>
            </a:r>
          </a:p>
        </p:txBody>
      </p:sp>
      <p:sp>
        <p:nvSpPr>
          <p:cNvPr id="3" name="Sous-titre 2">
            <a:extLst>
              <a:ext uri="{FF2B5EF4-FFF2-40B4-BE49-F238E27FC236}">
                <a16:creationId xmlns:a16="http://schemas.microsoft.com/office/drawing/2014/main" id="{9F02B1F0-9490-83BC-5D2A-39B784814BA8}"/>
              </a:ext>
            </a:extLst>
          </p:cNvPr>
          <p:cNvSpPr>
            <a:spLocks noGrp="1"/>
          </p:cNvSpPr>
          <p:nvPr>
            <p:ph type="subTitle" idx="1"/>
          </p:nvPr>
        </p:nvSpPr>
        <p:spPr>
          <a:xfrm>
            <a:off x="442451" y="4342418"/>
            <a:ext cx="11307097" cy="1177234"/>
          </a:xfrm>
        </p:spPr>
        <p:txBody>
          <a:bodyPr>
            <a:normAutofit/>
          </a:bodyPr>
          <a:lstStyle/>
          <a:p>
            <a:pPr algn="l"/>
            <a:r>
              <a:rPr lang="fr-BJ" sz="3300" dirty="0" smtClean="0"/>
              <a:t>Détection du besoin de traitement </a:t>
            </a:r>
            <a:r>
              <a:rPr lang="fr-FR" sz="3300" dirty="0" smtClean="0"/>
              <a:t>pour les troubles de la santé mentale </a:t>
            </a:r>
            <a:r>
              <a:rPr lang="fr-BJ" sz="3300" dirty="0" smtClean="0"/>
              <a:t>avec l’IA</a:t>
            </a:r>
            <a:endParaRPr lang="fr-FR" sz="3300" dirty="0"/>
          </a:p>
        </p:txBody>
      </p:sp>
    </p:spTree>
    <p:extLst>
      <p:ext uri="{BB962C8B-B14F-4D97-AF65-F5344CB8AC3E}">
        <p14:creationId xmlns:p14="http://schemas.microsoft.com/office/powerpoint/2010/main" val="4275700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C259C4-15CF-5FF1-5FA6-82A0B80722A6}"/>
              </a:ext>
            </a:extLst>
          </p:cNvPr>
          <p:cNvSpPr>
            <a:spLocks noGrp="1"/>
          </p:cNvSpPr>
          <p:nvPr>
            <p:ph type="title"/>
          </p:nvPr>
        </p:nvSpPr>
        <p:spPr>
          <a:xfrm>
            <a:off x="108645" y="133084"/>
            <a:ext cx="10490081" cy="714814"/>
          </a:xfrm>
        </p:spPr>
        <p:txBody>
          <a:bodyPr/>
          <a:lstStyle/>
          <a:p>
            <a:r>
              <a:rPr lang="fr-FR" dirty="0" smtClean="0"/>
              <a:t>1. Introduction</a:t>
            </a:r>
            <a:endParaRPr lang="fr-FR" dirty="0"/>
          </a:p>
        </p:txBody>
      </p:sp>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08645" y="1077478"/>
            <a:ext cx="11695427" cy="5406449"/>
          </a:xfrm>
        </p:spPr>
        <p:txBody>
          <a:bodyPr/>
          <a:lstStyle/>
          <a:p>
            <a:pPr marL="0" indent="0">
              <a:buNone/>
            </a:pPr>
            <a:r>
              <a:rPr lang="fr-FR" sz="2500" u="sng" dirty="0" smtClean="0"/>
              <a:t>1.1 Contexte</a:t>
            </a:r>
          </a:p>
          <a:p>
            <a:pPr marL="0" indent="0">
              <a:buNone/>
            </a:pPr>
            <a:endParaRPr lang="fr-FR" u="sng" dirty="0"/>
          </a:p>
          <a:p>
            <a:pPr marL="0" indent="0">
              <a:buNone/>
            </a:pPr>
            <a:r>
              <a:rPr lang="fr-FR" sz="2300" dirty="0" smtClean="0"/>
              <a:t>- Hausse des cas de soucis de santé mentale : </a:t>
            </a:r>
            <a:r>
              <a:rPr lang="fr-FR" sz="2300" b="1" dirty="0"/>
              <a:t>Les cas d’anxiété et de dépression sont en hausse de 25 % dans le monde en raison de la pandémie de </a:t>
            </a:r>
            <a:r>
              <a:rPr lang="fr-FR" sz="2300" b="1" dirty="0" smtClean="0"/>
              <a:t>COVID-19 </a:t>
            </a:r>
            <a:r>
              <a:rPr lang="fr-FR" sz="2300" dirty="0" smtClean="0"/>
              <a:t>(OMS)</a:t>
            </a:r>
          </a:p>
          <a:p>
            <a:pPr marL="0" indent="0">
              <a:buNone/>
            </a:pPr>
            <a:endParaRPr lang="fr-FR" sz="2300" dirty="0" smtClean="0"/>
          </a:p>
          <a:p>
            <a:pPr marL="0" indent="0">
              <a:buNone/>
            </a:pPr>
            <a:r>
              <a:rPr lang="fr-FR" sz="2300" dirty="0" smtClean="0"/>
              <a:t>- 25</a:t>
            </a:r>
            <a:r>
              <a:rPr lang="fr-FR" sz="2300" dirty="0"/>
              <a:t>% des Français se sont sentis déprimés pendant plusieurs semaines au moins au cours de l'année </a:t>
            </a:r>
            <a:r>
              <a:rPr lang="fr-FR" sz="2300" dirty="0" smtClean="0"/>
              <a:t>précédente. </a:t>
            </a:r>
          </a:p>
          <a:p>
            <a:pPr marL="0" indent="0">
              <a:buNone/>
            </a:pPr>
            <a:endParaRPr lang="fr-FR" sz="2300" dirty="0"/>
          </a:p>
          <a:p>
            <a:pPr marL="0" indent="0">
              <a:buNone/>
            </a:pPr>
            <a:r>
              <a:rPr lang="fr-FR" sz="2300" dirty="0" smtClean="0"/>
              <a:t>- Près </a:t>
            </a:r>
            <a:r>
              <a:rPr lang="fr-FR" sz="2300" dirty="0"/>
              <a:t>d'une personne sur dix (9%) a envisagé le suicide ou l'automutilation au cours de l'année passée</a:t>
            </a:r>
            <a:r>
              <a:rPr lang="fr-FR" sz="2300" dirty="0" smtClean="0"/>
              <a:t>. (Ipsos)</a:t>
            </a:r>
            <a:endParaRPr lang="fr-FR" sz="2300" dirty="0" smtClean="0"/>
          </a:p>
          <a:p>
            <a:pPr marL="0" indent="0">
              <a:buNone/>
            </a:pPr>
            <a:endParaRPr lang="fr-FR" dirty="0"/>
          </a:p>
        </p:txBody>
      </p:sp>
    </p:spTree>
    <p:extLst>
      <p:ext uri="{BB962C8B-B14F-4D97-AF65-F5344CB8AC3E}">
        <p14:creationId xmlns:p14="http://schemas.microsoft.com/office/powerpoint/2010/main" val="2928106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249961" y="429084"/>
            <a:ext cx="11695427" cy="5406449"/>
          </a:xfrm>
        </p:spPr>
        <p:txBody>
          <a:bodyPr/>
          <a:lstStyle/>
          <a:p>
            <a:pPr marL="0" indent="0">
              <a:buNone/>
            </a:pPr>
            <a:r>
              <a:rPr lang="fr-FR" sz="2500" u="sng" dirty="0" smtClean="0"/>
              <a:t>1.2 Formulation de la problématique</a:t>
            </a:r>
          </a:p>
          <a:p>
            <a:pPr marL="0" indent="0">
              <a:buNone/>
            </a:pPr>
            <a:endParaRPr lang="fr-FR" dirty="0" smtClean="0"/>
          </a:p>
          <a:p>
            <a:pPr marL="0" indent="0">
              <a:buNone/>
            </a:pPr>
            <a:endParaRPr lang="fr-FR" dirty="0"/>
          </a:p>
          <a:p>
            <a:pPr marL="0" indent="0">
              <a:buNone/>
            </a:pPr>
            <a:endParaRPr lang="fr-FR" dirty="0"/>
          </a:p>
          <a:p>
            <a:pPr marL="0" indent="0">
              <a:buNone/>
            </a:pPr>
            <a:r>
              <a:rPr lang="fr-FR" sz="2300" dirty="0" smtClean="0"/>
              <a:t>Requête client -&gt; Application pour détecter le besoin de traitement des problèmes de santé mentale</a:t>
            </a:r>
          </a:p>
          <a:p>
            <a:pPr marL="0" indent="0">
              <a:buNone/>
            </a:pPr>
            <a:endParaRPr lang="fr-FR" sz="2300" dirty="0"/>
          </a:p>
          <a:p>
            <a:pPr marL="0" indent="0">
              <a:buNone/>
            </a:pPr>
            <a:r>
              <a:rPr lang="fr-FR" sz="2300" dirty="0" smtClean="0"/>
              <a:t>Jeu de données -&gt; Enquête du client auprès des travailleurs du domaine de la technologie</a:t>
            </a:r>
          </a:p>
          <a:p>
            <a:pPr marL="0" indent="0">
              <a:buNone/>
            </a:pPr>
            <a:endParaRPr lang="fr-FR" dirty="0"/>
          </a:p>
          <a:p>
            <a:pPr marL="0" indent="0">
              <a:buNone/>
            </a:pPr>
            <a:r>
              <a:rPr lang="fr-FR" dirty="0" smtClean="0"/>
              <a:t>	</a:t>
            </a:r>
            <a:endParaRPr lang="fr-FR" dirty="0"/>
          </a:p>
          <a:p>
            <a:pPr marL="0" indent="0">
              <a:buNone/>
            </a:pPr>
            <a:endParaRPr lang="fr-FR" dirty="0"/>
          </a:p>
        </p:txBody>
      </p:sp>
    </p:spTree>
    <p:extLst>
      <p:ext uri="{BB962C8B-B14F-4D97-AF65-F5344CB8AC3E}">
        <p14:creationId xmlns:p14="http://schemas.microsoft.com/office/powerpoint/2010/main" val="2277982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25271" y="239480"/>
            <a:ext cx="11695427" cy="6403977"/>
          </a:xfrm>
        </p:spPr>
        <p:txBody>
          <a:bodyPr/>
          <a:lstStyle/>
          <a:p>
            <a:pPr marL="0" indent="0">
              <a:buNone/>
            </a:pPr>
            <a:r>
              <a:rPr lang="fr-FR" sz="2500" u="sng" dirty="0" smtClean="0"/>
              <a:t>1.3 Aspect du jeu de données</a:t>
            </a:r>
            <a:endParaRPr lang="fr-FR" sz="2500" dirty="0"/>
          </a:p>
          <a:p>
            <a:pPr marL="0" indent="0">
              <a:buNone/>
            </a:pPr>
            <a:endParaRPr lang="fr-FR" dirty="0" smtClean="0"/>
          </a:p>
          <a:p>
            <a:pPr marL="0" indent="0">
              <a:buNone/>
            </a:pPr>
            <a:endParaRPr lang="fr-FR" dirty="0"/>
          </a:p>
          <a:p>
            <a:pPr marL="0" indent="0">
              <a:buNone/>
            </a:pPr>
            <a:endParaRPr lang="fr-FR" dirty="0" smtClean="0"/>
          </a:p>
          <a:p>
            <a:pPr marL="0" indent="0">
              <a:buNone/>
            </a:pPr>
            <a:endParaRPr lang="fr-FR" dirty="0"/>
          </a:p>
          <a:p>
            <a:pPr marL="0" indent="0">
              <a:buNone/>
            </a:pPr>
            <a:endParaRPr lang="fr-FR" dirty="0" smtClean="0"/>
          </a:p>
          <a:p>
            <a:pPr marL="0" indent="0">
              <a:buNone/>
            </a:pPr>
            <a:endParaRPr lang="fr-FR" dirty="0" smtClean="0"/>
          </a:p>
          <a:p>
            <a:pPr marL="0" indent="0">
              <a:buNone/>
            </a:pPr>
            <a:endParaRPr lang="fr-FR" sz="2300" dirty="0" smtClean="0"/>
          </a:p>
          <a:p>
            <a:pPr marL="0" indent="0">
              <a:buNone/>
            </a:pPr>
            <a:r>
              <a:rPr lang="fr-FR" sz="2300" dirty="0" smtClean="0"/>
              <a:t>Questions sur l'employeur, la santé mentale</a:t>
            </a:r>
          </a:p>
          <a:p>
            <a:pPr marL="0" indent="0">
              <a:buNone/>
            </a:pPr>
            <a:r>
              <a:rPr lang="fr-FR" sz="2300" u="sng" dirty="0"/>
              <a:t>Exemple</a:t>
            </a:r>
            <a:r>
              <a:rPr lang="fr-FR" sz="2300" dirty="0"/>
              <a:t> </a:t>
            </a:r>
            <a:r>
              <a:rPr lang="fr-FR" sz="2300" dirty="0" smtClean="0"/>
              <a:t>: </a:t>
            </a:r>
            <a:r>
              <a:rPr lang="fr-FR" sz="2300" dirty="0"/>
              <a:t>Pensez-vous que votre employeur prend autant au sérieux la santé mentale que la santé physique </a:t>
            </a:r>
            <a:r>
              <a:rPr lang="fr-FR" sz="2300" dirty="0" smtClean="0"/>
              <a:t>?</a:t>
            </a:r>
          </a:p>
          <a:p>
            <a:pPr marL="0" indent="0">
              <a:buNone/>
            </a:pPr>
            <a:endParaRPr lang="fr-FR" sz="2300" dirty="0" smtClean="0"/>
          </a:p>
          <a:p>
            <a:pPr marL="0" indent="0">
              <a:buNone/>
            </a:pPr>
            <a:r>
              <a:rPr lang="fr-FR" sz="2300" u="sng" dirty="0" smtClean="0"/>
              <a:t>Question cible </a:t>
            </a:r>
            <a:r>
              <a:rPr lang="fr-FR" sz="2300" dirty="0" smtClean="0"/>
              <a:t>: </a:t>
            </a:r>
            <a:r>
              <a:rPr lang="fr-FR" sz="2300" dirty="0"/>
              <a:t>Avez-vous déjà demandé un traitement pour un problème de santé mentale ? </a:t>
            </a:r>
          </a:p>
          <a:p>
            <a:pPr marL="0" indent="0">
              <a:buNone/>
            </a:pPr>
            <a:endParaRPr lang="fr-FR" dirty="0"/>
          </a:p>
          <a:p>
            <a:pPr marL="0" indent="0">
              <a:buNone/>
            </a:pPr>
            <a:r>
              <a:rPr lang="fr-FR" dirty="0" smtClean="0"/>
              <a:t>	</a:t>
            </a:r>
            <a:endParaRPr lang="fr-FR" dirty="0"/>
          </a:p>
          <a:p>
            <a:pPr marL="0" indent="0">
              <a:buNone/>
            </a:pPr>
            <a:endParaRPr lang="fr-FR" dirty="0"/>
          </a:p>
        </p:txBody>
      </p:sp>
      <p:pic>
        <p:nvPicPr>
          <p:cNvPr id="4" name="Image 3" descr="Une image contenant capture d’écran, texte, noir&#10;&#10;Description générée automatiquement"/>
          <p:cNvPicPr/>
          <p:nvPr/>
        </p:nvPicPr>
        <p:blipFill>
          <a:blip r:embed="rId3">
            <a:extLst>
              <a:ext uri="{28A0092B-C50C-407E-A947-70E740481C1C}">
                <a14:useLocalDpi xmlns:a14="http://schemas.microsoft.com/office/drawing/2010/main" val="0"/>
              </a:ext>
            </a:extLst>
          </a:blip>
          <a:stretch>
            <a:fillRect/>
          </a:stretch>
        </p:blipFill>
        <p:spPr>
          <a:xfrm>
            <a:off x="241648" y="1054467"/>
            <a:ext cx="10864156" cy="2345438"/>
          </a:xfrm>
          <a:prstGeom prst="rect">
            <a:avLst/>
          </a:prstGeom>
        </p:spPr>
      </p:pic>
      <p:sp>
        <p:nvSpPr>
          <p:cNvPr id="5" name="Zone de texte 6"/>
          <p:cNvSpPr txBox="1"/>
          <p:nvPr/>
        </p:nvSpPr>
        <p:spPr>
          <a:xfrm>
            <a:off x="241648" y="3608520"/>
            <a:ext cx="7326630" cy="200055"/>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1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Echantillon du jeu de données</a:t>
            </a:r>
          </a:p>
        </p:txBody>
      </p:sp>
    </p:spTree>
    <p:extLst>
      <p:ext uri="{BB962C8B-B14F-4D97-AF65-F5344CB8AC3E}">
        <p14:creationId xmlns:p14="http://schemas.microsoft.com/office/powerpoint/2010/main" val="1274007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66834" y="271143"/>
            <a:ext cx="11695427" cy="5406449"/>
          </a:xfrm>
        </p:spPr>
        <p:txBody>
          <a:bodyPr/>
          <a:lstStyle/>
          <a:p>
            <a:pPr marL="0" indent="0">
              <a:buNone/>
            </a:pPr>
            <a:r>
              <a:rPr lang="fr-FR" sz="2500" u="sng" dirty="0" smtClean="0"/>
              <a:t>1.3 </a:t>
            </a:r>
            <a:r>
              <a:rPr lang="fr-FR" sz="2500" u="sng" dirty="0" smtClean="0"/>
              <a:t>Résumé de la r</a:t>
            </a:r>
            <a:r>
              <a:rPr lang="fr-FR" sz="2500" u="sng" dirty="0" smtClean="0"/>
              <a:t>éponse apportée</a:t>
            </a:r>
            <a:endParaRPr lang="fr-FR" sz="2500" dirty="0"/>
          </a:p>
          <a:p>
            <a:pPr marL="0" indent="0">
              <a:buNone/>
            </a:pPr>
            <a:endParaRPr lang="fr-FR" dirty="0"/>
          </a:p>
          <a:p>
            <a:pPr marL="0" indent="0">
              <a:buNone/>
            </a:pPr>
            <a:endParaRPr lang="fr-FR" dirty="0"/>
          </a:p>
          <a:p>
            <a:pPr marL="0" indent="0">
              <a:buNone/>
            </a:pPr>
            <a:r>
              <a:rPr lang="fr-FR" dirty="0" smtClean="0"/>
              <a:t>	</a:t>
            </a:r>
            <a:endParaRPr lang="fr-FR" dirty="0"/>
          </a:p>
          <a:p>
            <a:pPr marL="0" indent="0">
              <a:buNone/>
            </a:pPr>
            <a:endParaRPr lang="fr-FR" dirty="0"/>
          </a:p>
        </p:txBody>
      </p:sp>
      <p:pic>
        <p:nvPicPr>
          <p:cNvPr id="6" name="Image 5" descr="Une image contenant texte, capture d’écran, diagramme, Police&#10;&#10;Description générée automatiquement"/>
          <p:cNvPicPr/>
          <p:nvPr/>
        </p:nvPicPr>
        <p:blipFill>
          <a:blip r:embed="rId3">
            <a:extLst>
              <a:ext uri="{28A0092B-C50C-407E-A947-70E740481C1C}">
                <a14:useLocalDpi xmlns:a14="http://schemas.microsoft.com/office/drawing/2010/main" val="0"/>
              </a:ext>
            </a:extLst>
          </a:blip>
          <a:srcRect/>
          <a:stretch>
            <a:fillRect/>
          </a:stretch>
        </p:blipFill>
        <p:spPr bwMode="auto">
          <a:xfrm>
            <a:off x="1077883" y="1229733"/>
            <a:ext cx="8689572" cy="4247804"/>
          </a:xfrm>
          <a:prstGeom prst="rect">
            <a:avLst/>
          </a:prstGeom>
          <a:noFill/>
          <a:ln>
            <a:noFill/>
          </a:ln>
        </p:spPr>
      </p:pic>
      <p:sp>
        <p:nvSpPr>
          <p:cNvPr id="8" name="Zone de texte 2"/>
          <p:cNvSpPr txBox="1"/>
          <p:nvPr/>
        </p:nvSpPr>
        <p:spPr>
          <a:xfrm>
            <a:off x="1805622" y="5577564"/>
            <a:ext cx="6386195" cy="200055"/>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2</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Schéma fonctionnel utilisé pour le projet</a:t>
            </a:r>
          </a:p>
        </p:txBody>
      </p:sp>
    </p:spTree>
    <p:extLst>
      <p:ext uri="{BB962C8B-B14F-4D97-AF65-F5344CB8AC3E}">
        <p14:creationId xmlns:p14="http://schemas.microsoft.com/office/powerpoint/2010/main" val="1378035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Une image contenant texte, capture d’écran, Police"/>
          <p:cNvPicPr/>
          <p:nvPr/>
        </p:nvPicPr>
        <p:blipFill>
          <a:blip r:embed="rId3">
            <a:extLst>
              <a:ext uri="{28A0092B-C50C-407E-A947-70E740481C1C}">
                <a14:useLocalDpi xmlns:a14="http://schemas.microsoft.com/office/drawing/2010/main" val="0"/>
              </a:ext>
            </a:extLst>
          </a:blip>
          <a:stretch>
            <a:fillRect/>
          </a:stretch>
        </p:blipFill>
        <p:spPr>
          <a:xfrm>
            <a:off x="108065" y="257694"/>
            <a:ext cx="5544589" cy="5112327"/>
          </a:xfrm>
          <a:prstGeom prst="rect">
            <a:avLst/>
          </a:prstGeom>
        </p:spPr>
      </p:pic>
      <p:sp>
        <p:nvSpPr>
          <p:cNvPr id="7" name="Zone de texte 1"/>
          <p:cNvSpPr txBox="1"/>
          <p:nvPr/>
        </p:nvSpPr>
        <p:spPr>
          <a:xfrm>
            <a:off x="404550" y="6063298"/>
            <a:ext cx="4450080" cy="219710"/>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3</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Aperçu du front-end, début de questionnaire</a:t>
            </a:r>
          </a:p>
        </p:txBody>
      </p:sp>
      <p:pic>
        <p:nvPicPr>
          <p:cNvPr id="9" name="Image 8" descr="Une image contenant texte, capture d’écran, Police&#10;&#10;Description générée automatiquement"/>
          <p:cNvPicPr/>
          <p:nvPr/>
        </p:nvPicPr>
        <p:blipFill>
          <a:blip r:embed="rId4">
            <a:extLst>
              <a:ext uri="{28A0092B-C50C-407E-A947-70E740481C1C}">
                <a14:useLocalDpi xmlns:a14="http://schemas.microsoft.com/office/drawing/2010/main" val="0"/>
              </a:ext>
            </a:extLst>
          </a:blip>
          <a:stretch>
            <a:fillRect/>
          </a:stretch>
        </p:blipFill>
        <p:spPr>
          <a:xfrm>
            <a:off x="5719156" y="593998"/>
            <a:ext cx="6035040" cy="4659646"/>
          </a:xfrm>
          <a:prstGeom prst="rect">
            <a:avLst/>
          </a:prstGeom>
        </p:spPr>
      </p:pic>
      <p:sp>
        <p:nvSpPr>
          <p:cNvPr id="10" name="Zone de texte 1"/>
          <p:cNvSpPr txBox="1"/>
          <p:nvPr/>
        </p:nvSpPr>
        <p:spPr>
          <a:xfrm>
            <a:off x="5939732" y="6073126"/>
            <a:ext cx="4617720" cy="200055"/>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4</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Aperçu du front-end, fin du questionnaire</a:t>
            </a:r>
          </a:p>
        </p:txBody>
      </p:sp>
    </p:spTree>
    <p:extLst>
      <p:ext uri="{BB962C8B-B14F-4D97-AF65-F5344CB8AC3E}">
        <p14:creationId xmlns:p14="http://schemas.microsoft.com/office/powerpoint/2010/main" val="94984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92019" y="919536"/>
            <a:ext cx="11695427" cy="5406449"/>
          </a:xfrm>
        </p:spPr>
        <p:txBody>
          <a:bodyPr/>
          <a:lstStyle/>
          <a:p>
            <a:pPr marL="0" indent="0">
              <a:buNone/>
            </a:pPr>
            <a:endParaRPr lang="fr-FR" u="sng" dirty="0" smtClean="0"/>
          </a:p>
          <a:p>
            <a:pPr marL="0" indent="0">
              <a:buNone/>
            </a:pPr>
            <a:endParaRPr lang="fr-FR" u="sng" dirty="0"/>
          </a:p>
          <a:p>
            <a:pPr marL="0" indent="0">
              <a:buNone/>
            </a:pPr>
            <a:endParaRPr lang="fr-FR" u="sng" dirty="0" smtClean="0"/>
          </a:p>
          <a:p>
            <a:pPr marL="0" indent="0">
              <a:buNone/>
            </a:pPr>
            <a:r>
              <a:rPr lang="fr-FR" sz="2300" u="sng" dirty="0" smtClean="0"/>
              <a:t>Enjeux réglementaires </a:t>
            </a:r>
            <a:r>
              <a:rPr lang="fr-FR" sz="2300" dirty="0" smtClean="0"/>
              <a:t>: </a:t>
            </a:r>
            <a:r>
              <a:rPr lang="fr-FR" sz="2300" dirty="0" err="1" smtClean="0"/>
              <a:t>Dataset</a:t>
            </a:r>
            <a:r>
              <a:rPr lang="fr-FR" sz="2300" dirty="0" smtClean="0"/>
              <a:t> en libre accès</a:t>
            </a:r>
          </a:p>
          <a:p>
            <a:pPr marL="0" indent="0">
              <a:buNone/>
            </a:pPr>
            <a:endParaRPr lang="fr-FR" sz="2300" dirty="0" smtClean="0"/>
          </a:p>
          <a:p>
            <a:pPr marL="0" indent="0">
              <a:buNone/>
            </a:pPr>
            <a:r>
              <a:rPr lang="fr-FR" sz="2300" u="sng" dirty="0" smtClean="0"/>
              <a:t>Utilisateurs du projet</a:t>
            </a:r>
            <a:r>
              <a:rPr lang="fr-FR" sz="2300" dirty="0" smtClean="0"/>
              <a:t> : Les gens qui travaillent, particulièrement adapté pour les gens travaillant dans la technologie.</a:t>
            </a:r>
            <a:endParaRPr lang="fr-FR" sz="2300" dirty="0"/>
          </a:p>
        </p:txBody>
      </p:sp>
      <p:sp>
        <p:nvSpPr>
          <p:cNvPr id="8" name="Titre 1">
            <a:extLst>
              <a:ext uri="{FF2B5EF4-FFF2-40B4-BE49-F238E27FC236}">
                <a16:creationId xmlns:a16="http://schemas.microsoft.com/office/drawing/2014/main" id="{E9C259C4-15CF-5FF1-5FA6-82A0B80722A6}"/>
              </a:ext>
            </a:extLst>
          </p:cNvPr>
          <p:cNvSpPr>
            <a:spLocks noGrp="1"/>
          </p:cNvSpPr>
          <p:nvPr>
            <p:ph type="title"/>
          </p:nvPr>
        </p:nvSpPr>
        <p:spPr>
          <a:xfrm>
            <a:off x="92019" y="204722"/>
            <a:ext cx="10490081" cy="714814"/>
          </a:xfrm>
        </p:spPr>
        <p:txBody>
          <a:bodyPr/>
          <a:lstStyle/>
          <a:p>
            <a:r>
              <a:rPr lang="fr-FR" dirty="0"/>
              <a:t>2</a:t>
            </a:r>
            <a:r>
              <a:rPr lang="fr-FR" dirty="0" smtClean="0"/>
              <a:t>. Analyse de la demande</a:t>
            </a:r>
            <a:endParaRPr lang="fr-FR" dirty="0"/>
          </a:p>
        </p:txBody>
      </p:sp>
    </p:spTree>
    <p:extLst>
      <p:ext uri="{BB962C8B-B14F-4D97-AF65-F5344CB8AC3E}">
        <p14:creationId xmlns:p14="http://schemas.microsoft.com/office/powerpoint/2010/main" val="2664623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08644" y="204641"/>
            <a:ext cx="11695427" cy="5406449"/>
          </a:xfrm>
        </p:spPr>
        <p:txBody>
          <a:bodyPr>
            <a:normAutofit/>
          </a:bodyPr>
          <a:lstStyle/>
          <a:p>
            <a:pPr marL="0" indent="0">
              <a:buNone/>
            </a:pPr>
            <a:r>
              <a:rPr lang="fr-FR" sz="2500" u="sng" dirty="0" smtClean="0"/>
              <a:t>Gestion de projet </a:t>
            </a:r>
            <a:r>
              <a:rPr lang="fr-FR" sz="2500" dirty="0" smtClean="0"/>
              <a:t>:</a:t>
            </a:r>
            <a:endParaRPr lang="fr-FR" sz="2500" dirty="0"/>
          </a:p>
        </p:txBody>
      </p:sp>
      <p:pic>
        <p:nvPicPr>
          <p:cNvPr id="11" name="Image 10" descr="Une image contenant texte, capture d’écran, diagramme, ligne"/>
          <p:cNvPicPr/>
          <p:nvPr/>
        </p:nvPicPr>
        <p:blipFill>
          <a:blip r:embed="rId3">
            <a:extLst>
              <a:ext uri="{28A0092B-C50C-407E-A947-70E740481C1C}">
                <a14:useLocalDpi xmlns:a14="http://schemas.microsoft.com/office/drawing/2010/main" val="0"/>
              </a:ext>
            </a:extLst>
          </a:blip>
          <a:stretch>
            <a:fillRect/>
          </a:stretch>
        </p:blipFill>
        <p:spPr>
          <a:xfrm>
            <a:off x="108644" y="1038201"/>
            <a:ext cx="8079392" cy="5175833"/>
          </a:xfrm>
          <a:prstGeom prst="rect">
            <a:avLst/>
          </a:prstGeom>
        </p:spPr>
      </p:pic>
      <p:pic>
        <p:nvPicPr>
          <p:cNvPr id="12" name="Image 11" descr="Une image contenant texte, capture d’écran, Police, nombre"/>
          <p:cNvPicPr/>
          <p:nvPr/>
        </p:nvPicPr>
        <p:blipFill>
          <a:blip r:embed="rId4">
            <a:extLst>
              <a:ext uri="{28A0092B-C50C-407E-A947-70E740481C1C}">
                <a14:useLocalDpi xmlns:a14="http://schemas.microsoft.com/office/drawing/2010/main" val="0"/>
              </a:ext>
            </a:extLst>
          </a:blip>
          <a:stretch>
            <a:fillRect/>
          </a:stretch>
        </p:blipFill>
        <p:spPr>
          <a:xfrm>
            <a:off x="7278614" y="3157795"/>
            <a:ext cx="4765040" cy="1579880"/>
          </a:xfrm>
          <a:prstGeom prst="rect">
            <a:avLst/>
          </a:prstGeom>
        </p:spPr>
      </p:pic>
      <p:sp>
        <p:nvSpPr>
          <p:cNvPr id="13" name="Zone de texte 3"/>
          <p:cNvSpPr txBox="1"/>
          <p:nvPr/>
        </p:nvSpPr>
        <p:spPr>
          <a:xfrm>
            <a:off x="474894" y="6444650"/>
            <a:ext cx="4765040" cy="200055"/>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5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Diagramme de Gantt, avec le tableau des périodes</a:t>
            </a:r>
          </a:p>
        </p:txBody>
      </p:sp>
    </p:spTree>
    <p:extLst>
      <p:ext uri="{BB962C8B-B14F-4D97-AF65-F5344CB8AC3E}">
        <p14:creationId xmlns:p14="http://schemas.microsoft.com/office/powerpoint/2010/main" val="2349061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92019" y="1451551"/>
            <a:ext cx="11695427" cy="5406449"/>
          </a:xfrm>
        </p:spPr>
        <p:txBody>
          <a:bodyPr/>
          <a:lstStyle/>
          <a:p>
            <a:pPr marL="0" indent="0">
              <a:buNone/>
            </a:pPr>
            <a:r>
              <a:rPr lang="fr-FR" sz="2500" u="sng" dirty="0" smtClean="0"/>
              <a:t>3.1 Nettoyage des données :</a:t>
            </a:r>
          </a:p>
          <a:p>
            <a:pPr marL="0" indent="0">
              <a:buNone/>
            </a:pPr>
            <a:endParaRPr lang="fr-FR" u="sng" dirty="0"/>
          </a:p>
          <a:p>
            <a:pPr marL="0" indent="0">
              <a:buNone/>
            </a:pPr>
            <a:endParaRPr lang="fr-FR" u="sng" dirty="0" smtClean="0"/>
          </a:p>
          <a:p>
            <a:pPr marL="0" indent="0">
              <a:buNone/>
            </a:pPr>
            <a:endParaRPr lang="fr-FR" dirty="0"/>
          </a:p>
        </p:txBody>
      </p:sp>
      <p:sp>
        <p:nvSpPr>
          <p:cNvPr id="8" name="Titre 1">
            <a:extLst>
              <a:ext uri="{FF2B5EF4-FFF2-40B4-BE49-F238E27FC236}">
                <a16:creationId xmlns:a16="http://schemas.microsoft.com/office/drawing/2014/main" id="{E9C259C4-15CF-5FF1-5FA6-82A0B80722A6}"/>
              </a:ext>
            </a:extLst>
          </p:cNvPr>
          <p:cNvSpPr>
            <a:spLocks noGrp="1"/>
          </p:cNvSpPr>
          <p:nvPr>
            <p:ph type="title"/>
          </p:nvPr>
        </p:nvSpPr>
        <p:spPr>
          <a:xfrm>
            <a:off x="92019" y="121513"/>
            <a:ext cx="11495923" cy="1216835"/>
          </a:xfrm>
        </p:spPr>
        <p:txBody>
          <a:bodyPr/>
          <a:lstStyle/>
          <a:p>
            <a:r>
              <a:rPr lang="fr-FR" dirty="0" smtClean="0"/>
              <a:t>3. Développer la gestion des données analytiques d'un projet d'application</a:t>
            </a:r>
            <a:endParaRPr lang="fr-FR" dirty="0"/>
          </a:p>
        </p:txBody>
      </p:sp>
      <p:pic>
        <p:nvPicPr>
          <p:cNvPr id="2" name="Image 1"/>
          <p:cNvPicPr>
            <a:picLocks noChangeAspect="1"/>
          </p:cNvPicPr>
          <p:nvPr/>
        </p:nvPicPr>
        <p:blipFill>
          <a:blip r:embed="rId3"/>
          <a:stretch>
            <a:fillRect/>
          </a:stretch>
        </p:blipFill>
        <p:spPr>
          <a:xfrm>
            <a:off x="6101542" y="1451551"/>
            <a:ext cx="4940249" cy="5192832"/>
          </a:xfrm>
          <a:prstGeom prst="rect">
            <a:avLst/>
          </a:prstGeom>
        </p:spPr>
      </p:pic>
      <p:sp>
        <p:nvSpPr>
          <p:cNvPr id="5" name="Zone de texte 3"/>
          <p:cNvSpPr txBox="1"/>
          <p:nvPr/>
        </p:nvSpPr>
        <p:spPr>
          <a:xfrm>
            <a:off x="200574" y="6519464"/>
            <a:ext cx="3756284" cy="200055"/>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5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Stratégie de nettoyage des données</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56518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50208" y="237893"/>
            <a:ext cx="11695427" cy="5406449"/>
          </a:xfrm>
        </p:spPr>
        <p:txBody>
          <a:bodyPr/>
          <a:lstStyle/>
          <a:p>
            <a:pPr marL="0" indent="0">
              <a:buNone/>
            </a:pPr>
            <a:r>
              <a:rPr lang="fr-FR" sz="2500" u="sng" dirty="0" smtClean="0"/>
              <a:t>3.2 Analyse exploratoire des données :</a:t>
            </a:r>
          </a:p>
          <a:p>
            <a:pPr marL="0" indent="0">
              <a:buNone/>
            </a:pPr>
            <a:endParaRPr lang="fr-FR" sz="2200" dirty="0" smtClean="0"/>
          </a:p>
          <a:p>
            <a:pPr marL="0" indent="0">
              <a:buNone/>
            </a:pPr>
            <a:r>
              <a:rPr lang="fr-FR" sz="2200" dirty="0" smtClean="0"/>
              <a:t>1259 lignes et 27 colonnes</a:t>
            </a:r>
            <a:endParaRPr lang="fr-FR" sz="2200" dirty="0"/>
          </a:p>
          <a:p>
            <a:pPr marL="0" indent="0">
              <a:buNone/>
            </a:pPr>
            <a:endParaRPr lang="fr-FR" dirty="0"/>
          </a:p>
        </p:txBody>
      </p:sp>
      <p:pic>
        <p:nvPicPr>
          <p:cNvPr id="5" name="Image 4"/>
          <p:cNvPicPr/>
          <p:nvPr/>
        </p:nvPicPr>
        <p:blipFill>
          <a:blip r:embed="rId3">
            <a:extLst>
              <a:ext uri="{28A0092B-C50C-407E-A947-70E740481C1C}">
                <a14:useLocalDpi xmlns:a14="http://schemas.microsoft.com/office/drawing/2010/main" val="0"/>
              </a:ext>
            </a:extLst>
          </a:blip>
          <a:stretch>
            <a:fillRect/>
          </a:stretch>
        </p:blipFill>
        <p:spPr>
          <a:xfrm>
            <a:off x="554179" y="1849238"/>
            <a:ext cx="3818316" cy="3865416"/>
          </a:xfrm>
          <a:prstGeom prst="rect">
            <a:avLst/>
          </a:prstGeom>
        </p:spPr>
      </p:pic>
      <p:sp>
        <p:nvSpPr>
          <p:cNvPr id="6" name="Zone de texte 8"/>
          <p:cNvSpPr txBox="1"/>
          <p:nvPr/>
        </p:nvSpPr>
        <p:spPr>
          <a:xfrm>
            <a:off x="605962" y="5914709"/>
            <a:ext cx="3714750" cy="400110"/>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4 : </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Répartition des valeurs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de la colonne "</a:t>
            </a:r>
            <a:r>
              <a:rPr lang="fr-FR" sz="1300" i="1" dirty="0" err="1">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treatment</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a:t>
            </a:r>
          </a:p>
        </p:txBody>
      </p:sp>
      <p:pic>
        <p:nvPicPr>
          <p:cNvPr id="7" name="Image 6"/>
          <p:cNvPicPr/>
          <p:nvPr/>
        </p:nvPicPr>
        <p:blipFill>
          <a:blip r:embed="rId4"/>
          <a:stretch>
            <a:fillRect/>
          </a:stretch>
        </p:blipFill>
        <p:spPr>
          <a:xfrm>
            <a:off x="5197934" y="2194219"/>
            <a:ext cx="5822261" cy="3520435"/>
          </a:xfrm>
          <a:prstGeom prst="rect">
            <a:avLst/>
          </a:prstGeom>
        </p:spPr>
      </p:pic>
      <p:sp>
        <p:nvSpPr>
          <p:cNvPr id="9" name="Zone de texte 8"/>
          <p:cNvSpPr txBox="1"/>
          <p:nvPr/>
        </p:nvSpPr>
        <p:spPr>
          <a:xfrm>
            <a:off x="6435954" y="5914709"/>
            <a:ext cx="3714750" cy="400110"/>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sp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5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 Corrélation entre la colonne traitement et les autres colonnes</a:t>
            </a:r>
          </a:p>
        </p:txBody>
      </p:sp>
    </p:spTree>
    <p:extLst>
      <p:ext uri="{BB962C8B-B14F-4D97-AF65-F5344CB8AC3E}">
        <p14:creationId xmlns:p14="http://schemas.microsoft.com/office/powerpoint/2010/main" val="2276690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50208" y="237893"/>
            <a:ext cx="11695427" cy="5406449"/>
          </a:xfrm>
        </p:spPr>
        <p:txBody>
          <a:bodyPr/>
          <a:lstStyle/>
          <a:p>
            <a:pPr marL="0" indent="0">
              <a:buNone/>
            </a:pPr>
            <a:r>
              <a:rPr lang="fr-FR" sz="2300" u="sng" dirty="0" err="1" smtClean="0"/>
              <a:t>family_history</a:t>
            </a:r>
            <a:r>
              <a:rPr lang="fr-FR" sz="2300" u="sng" dirty="0" smtClean="0"/>
              <a:t> :</a:t>
            </a:r>
            <a:r>
              <a:rPr lang="fr-FR" sz="2300" dirty="0" smtClean="0"/>
              <a:t> Antécédents familiaux</a:t>
            </a:r>
            <a:endParaRPr lang="fr-FR" sz="2300" u="sng" dirty="0" smtClean="0"/>
          </a:p>
          <a:p>
            <a:pPr marL="0" indent="0">
              <a:buNone/>
            </a:pPr>
            <a:endParaRPr lang="fr-FR" sz="2200" dirty="0" smtClean="0"/>
          </a:p>
          <a:p>
            <a:pPr marL="0" indent="0">
              <a:buNone/>
            </a:pPr>
            <a:endParaRPr lang="fr-FR" dirty="0"/>
          </a:p>
        </p:txBody>
      </p:sp>
      <p:pic>
        <p:nvPicPr>
          <p:cNvPr id="8" name="Image 7"/>
          <p:cNvPicPr/>
          <p:nvPr/>
        </p:nvPicPr>
        <p:blipFill>
          <a:blip r:embed="rId3">
            <a:extLst>
              <a:ext uri="{28A0092B-C50C-407E-A947-70E740481C1C}">
                <a14:useLocalDpi xmlns:a14="http://schemas.microsoft.com/office/drawing/2010/main" val="0"/>
              </a:ext>
            </a:extLst>
          </a:blip>
          <a:stretch>
            <a:fillRect/>
          </a:stretch>
        </p:blipFill>
        <p:spPr>
          <a:xfrm>
            <a:off x="2664893" y="1589924"/>
            <a:ext cx="5514831" cy="4054418"/>
          </a:xfrm>
          <a:prstGeom prst="rect">
            <a:avLst/>
          </a:prstGeom>
        </p:spPr>
      </p:pic>
      <p:sp>
        <p:nvSpPr>
          <p:cNvPr id="10" name="Zone de texte 11"/>
          <p:cNvSpPr txBox="1"/>
          <p:nvPr/>
        </p:nvSpPr>
        <p:spPr>
          <a:xfrm>
            <a:off x="3164665" y="5957716"/>
            <a:ext cx="5330942" cy="443084"/>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6 :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Corrélation</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entre antécédents familiaux et </a:t>
            </a:r>
            <a:r>
              <a:rPr lang="fr-FR" sz="1300" i="1" dirty="0" err="1"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t</a:t>
            </a:r>
            <a:r>
              <a:rPr lang="fr-FR" sz="1300" i="1" dirty="0" err="1"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reatment</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72431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50208" y="237893"/>
            <a:ext cx="11695427" cy="5406449"/>
          </a:xfrm>
        </p:spPr>
        <p:txBody>
          <a:bodyPr/>
          <a:lstStyle/>
          <a:p>
            <a:pPr marL="0" indent="0">
              <a:buNone/>
            </a:pPr>
            <a:r>
              <a:rPr lang="fr-FR" sz="2300" u="sng" dirty="0" err="1" smtClean="0"/>
              <a:t>work_interfere</a:t>
            </a:r>
            <a:r>
              <a:rPr lang="fr-FR" sz="2300" u="sng" dirty="0" smtClean="0"/>
              <a:t> :</a:t>
            </a:r>
            <a:r>
              <a:rPr lang="fr-FR" sz="2300" dirty="0" smtClean="0"/>
              <a:t> Si vous avez un problème de santé mental, à quelle fréquence sentez-vous que cela interfère avec votre travail ?</a:t>
            </a:r>
            <a:endParaRPr lang="fr-FR" sz="2300" u="sng" dirty="0" smtClean="0"/>
          </a:p>
          <a:p>
            <a:pPr marL="0" indent="0">
              <a:buNone/>
            </a:pPr>
            <a:endParaRPr lang="fr-FR" sz="2200" dirty="0" smtClean="0"/>
          </a:p>
          <a:p>
            <a:pPr marL="0" indent="0">
              <a:buNone/>
            </a:pPr>
            <a:endParaRPr lang="fr-FR" dirty="0"/>
          </a:p>
        </p:txBody>
      </p:sp>
      <p:sp>
        <p:nvSpPr>
          <p:cNvPr id="10" name="Zone de texte 11"/>
          <p:cNvSpPr txBox="1"/>
          <p:nvPr/>
        </p:nvSpPr>
        <p:spPr>
          <a:xfrm>
            <a:off x="3164665" y="5957716"/>
            <a:ext cx="5439008" cy="260204"/>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7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Corrélation</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entre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antécédents familiaux et </a:t>
            </a:r>
            <a:r>
              <a:rPr lang="fr-FR" sz="1300" i="1" dirty="0" err="1"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treatment</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 4"/>
          <p:cNvPicPr/>
          <p:nvPr/>
        </p:nvPicPr>
        <p:blipFill>
          <a:blip r:embed="rId3">
            <a:extLst>
              <a:ext uri="{28A0092B-C50C-407E-A947-70E740481C1C}">
                <a14:useLocalDpi xmlns:a14="http://schemas.microsoft.com/office/drawing/2010/main" val="0"/>
              </a:ext>
            </a:extLst>
          </a:blip>
          <a:stretch>
            <a:fillRect/>
          </a:stretch>
        </p:blipFill>
        <p:spPr>
          <a:xfrm>
            <a:off x="2599112" y="1686229"/>
            <a:ext cx="5879870" cy="4114800"/>
          </a:xfrm>
          <a:prstGeom prst="rect">
            <a:avLst/>
          </a:prstGeom>
        </p:spPr>
      </p:pic>
    </p:spTree>
    <p:extLst>
      <p:ext uri="{BB962C8B-B14F-4D97-AF65-F5344CB8AC3E}">
        <p14:creationId xmlns:p14="http://schemas.microsoft.com/office/powerpoint/2010/main" val="3657641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50208" y="237893"/>
            <a:ext cx="11695427" cy="5406449"/>
          </a:xfrm>
        </p:spPr>
        <p:txBody>
          <a:bodyPr/>
          <a:lstStyle/>
          <a:p>
            <a:pPr marL="0" indent="0">
              <a:buNone/>
            </a:pPr>
            <a:r>
              <a:rPr lang="fr-FR" sz="2300" u="sng" dirty="0" err="1" smtClean="0"/>
              <a:t>care_options</a:t>
            </a:r>
            <a:r>
              <a:rPr lang="fr-FR" sz="2300" u="sng" dirty="0" smtClean="0"/>
              <a:t> :</a:t>
            </a:r>
            <a:r>
              <a:rPr lang="fr-FR" sz="2300" dirty="0" smtClean="0"/>
              <a:t> Connaissez vous </a:t>
            </a:r>
            <a:r>
              <a:rPr lang="fr-FR" sz="2300" dirty="0"/>
              <a:t>les prestations de </a:t>
            </a:r>
            <a:r>
              <a:rPr lang="fr-FR" sz="2300" dirty="0" smtClean="0"/>
              <a:t>votre </a:t>
            </a:r>
            <a:r>
              <a:rPr lang="fr-FR" sz="2300" dirty="0"/>
              <a:t>entreprise </a:t>
            </a:r>
            <a:r>
              <a:rPr lang="fr-FR" sz="2300" dirty="0" smtClean="0"/>
              <a:t>en matière de santé mentale pour les employés ?</a:t>
            </a:r>
          </a:p>
          <a:p>
            <a:pPr marL="0" indent="0">
              <a:buNone/>
            </a:pPr>
            <a:endParaRPr lang="fr-FR" dirty="0"/>
          </a:p>
        </p:txBody>
      </p:sp>
      <p:sp>
        <p:nvSpPr>
          <p:cNvPr id="10" name="Zone de texte 11"/>
          <p:cNvSpPr txBox="1"/>
          <p:nvPr/>
        </p:nvSpPr>
        <p:spPr>
          <a:xfrm>
            <a:off x="3164665" y="6165534"/>
            <a:ext cx="5081560" cy="285142"/>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8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Corrélation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entre </a:t>
            </a:r>
            <a:r>
              <a:rPr lang="fr-FR" sz="1300"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care_options</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 et </a:t>
            </a:r>
            <a:r>
              <a:rPr lang="fr-FR" sz="1300"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treatment</a:t>
            </a:r>
            <a:endPar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6" name="Image 5"/>
          <p:cNvPicPr/>
          <p:nvPr/>
        </p:nvPicPr>
        <p:blipFill>
          <a:blip r:embed="rId3">
            <a:extLst>
              <a:ext uri="{28A0092B-C50C-407E-A947-70E740481C1C}">
                <a14:useLocalDpi xmlns:a14="http://schemas.microsoft.com/office/drawing/2010/main" val="0"/>
              </a:ext>
            </a:extLst>
          </a:blip>
          <a:stretch>
            <a:fillRect/>
          </a:stretch>
        </p:blipFill>
        <p:spPr>
          <a:xfrm>
            <a:off x="3048287" y="1385717"/>
            <a:ext cx="5547074" cy="4665948"/>
          </a:xfrm>
          <a:prstGeom prst="rect">
            <a:avLst/>
          </a:prstGeom>
        </p:spPr>
      </p:pic>
    </p:spTree>
    <p:extLst>
      <p:ext uri="{BB962C8B-B14F-4D97-AF65-F5344CB8AC3E}">
        <p14:creationId xmlns:p14="http://schemas.microsoft.com/office/powerpoint/2010/main" val="193986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50208" y="237893"/>
            <a:ext cx="11695427" cy="5406449"/>
          </a:xfrm>
        </p:spPr>
        <p:txBody>
          <a:bodyPr/>
          <a:lstStyle/>
          <a:p>
            <a:pPr marL="0" indent="0">
              <a:buNone/>
            </a:pPr>
            <a:r>
              <a:rPr lang="fr-FR" sz="2300" u="sng" dirty="0" err="1" smtClean="0"/>
              <a:t>obs_consequence</a:t>
            </a:r>
            <a:r>
              <a:rPr lang="fr-FR" sz="2300" u="sng" dirty="0" smtClean="0"/>
              <a:t> :</a:t>
            </a:r>
            <a:r>
              <a:rPr lang="fr-FR" sz="2300" dirty="0" smtClean="0"/>
              <a:t> </a:t>
            </a:r>
            <a:r>
              <a:rPr lang="fr-FR" sz="2300" dirty="0"/>
              <a:t>Avez-vous entendu parler ou observé des conséquences négatives pour les collègues souffrant de troubles mentaux sur votre lieu de travail </a:t>
            </a:r>
            <a:r>
              <a:rPr lang="fr-FR" sz="2300" dirty="0" smtClean="0"/>
              <a:t>?</a:t>
            </a:r>
          </a:p>
          <a:p>
            <a:pPr marL="0" indent="0">
              <a:buNone/>
            </a:pPr>
            <a:endParaRPr lang="fr-FR" dirty="0"/>
          </a:p>
        </p:txBody>
      </p:sp>
      <p:sp>
        <p:nvSpPr>
          <p:cNvPr id="10" name="Zone de texte 11"/>
          <p:cNvSpPr txBox="1"/>
          <p:nvPr/>
        </p:nvSpPr>
        <p:spPr>
          <a:xfrm>
            <a:off x="3164665" y="6165534"/>
            <a:ext cx="5081560" cy="285142"/>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9</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Corrélation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entre </a:t>
            </a:r>
            <a:r>
              <a:rPr lang="fr-FR" sz="1300" i="1" dirty="0" err="1"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obs_consequence</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et </a:t>
            </a:r>
            <a:r>
              <a:rPr lang="fr-FR" sz="1300"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treatment</a:t>
            </a:r>
            <a:endPar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 4"/>
          <p:cNvPicPr/>
          <p:nvPr/>
        </p:nvPicPr>
        <p:blipFill>
          <a:blip r:embed="rId3">
            <a:extLst>
              <a:ext uri="{28A0092B-C50C-407E-A947-70E740481C1C}">
                <a14:useLocalDpi xmlns:a14="http://schemas.microsoft.com/office/drawing/2010/main" val="0"/>
              </a:ext>
            </a:extLst>
          </a:blip>
          <a:stretch>
            <a:fillRect/>
          </a:stretch>
        </p:blipFill>
        <p:spPr>
          <a:xfrm>
            <a:off x="3235379" y="1379911"/>
            <a:ext cx="5359980" cy="4463936"/>
          </a:xfrm>
          <a:prstGeom prst="rect">
            <a:avLst/>
          </a:prstGeom>
        </p:spPr>
      </p:pic>
    </p:spTree>
    <p:extLst>
      <p:ext uri="{BB962C8B-B14F-4D97-AF65-F5344CB8AC3E}">
        <p14:creationId xmlns:p14="http://schemas.microsoft.com/office/powerpoint/2010/main" val="1291448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50208" y="237893"/>
            <a:ext cx="11695427" cy="5406449"/>
          </a:xfrm>
        </p:spPr>
        <p:txBody>
          <a:bodyPr>
            <a:normAutofit/>
          </a:bodyPr>
          <a:lstStyle/>
          <a:p>
            <a:pPr marL="0" indent="0">
              <a:buNone/>
            </a:pPr>
            <a:r>
              <a:rPr lang="fr-FR" sz="2300" u="sng" dirty="0" smtClean="0"/>
              <a:t>genre :</a:t>
            </a:r>
            <a:endParaRPr lang="fr-FR" sz="2300" dirty="0"/>
          </a:p>
        </p:txBody>
      </p:sp>
      <p:sp>
        <p:nvSpPr>
          <p:cNvPr id="10" name="Zone de texte 11"/>
          <p:cNvSpPr txBox="1"/>
          <p:nvPr/>
        </p:nvSpPr>
        <p:spPr>
          <a:xfrm>
            <a:off x="3164665" y="6165534"/>
            <a:ext cx="5081560" cy="285142"/>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10</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Corrélation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entre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genre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et </a:t>
            </a:r>
            <a:r>
              <a:rPr lang="fr-FR" sz="1300"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treatment</a:t>
            </a:r>
            <a:endPar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6" name="Image 5"/>
          <p:cNvPicPr/>
          <p:nvPr/>
        </p:nvPicPr>
        <p:blipFill>
          <a:blip r:embed="rId3">
            <a:extLst>
              <a:ext uri="{28A0092B-C50C-407E-A947-70E740481C1C}">
                <a14:useLocalDpi xmlns:a14="http://schemas.microsoft.com/office/drawing/2010/main" val="0"/>
              </a:ext>
            </a:extLst>
          </a:blip>
          <a:stretch>
            <a:fillRect/>
          </a:stretch>
        </p:blipFill>
        <p:spPr>
          <a:xfrm>
            <a:off x="2832531" y="955965"/>
            <a:ext cx="6330780" cy="4779816"/>
          </a:xfrm>
          <a:prstGeom prst="rect">
            <a:avLst/>
          </a:prstGeom>
        </p:spPr>
      </p:pic>
    </p:spTree>
    <p:extLst>
      <p:ext uri="{BB962C8B-B14F-4D97-AF65-F5344CB8AC3E}">
        <p14:creationId xmlns:p14="http://schemas.microsoft.com/office/powerpoint/2010/main" val="4231608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50208" y="237893"/>
            <a:ext cx="11695427" cy="5406449"/>
          </a:xfrm>
        </p:spPr>
        <p:txBody>
          <a:bodyPr/>
          <a:lstStyle/>
          <a:p>
            <a:pPr marL="0" indent="0">
              <a:buNone/>
            </a:pPr>
            <a:r>
              <a:rPr lang="fr-FR" sz="2300" u="sng" dirty="0" err="1" smtClean="0"/>
              <a:t>benefits</a:t>
            </a:r>
            <a:r>
              <a:rPr lang="fr-FR" sz="2300" u="sng" dirty="0" smtClean="0"/>
              <a:t> :</a:t>
            </a:r>
            <a:r>
              <a:rPr lang="fr-FR" sz="2300" dirty="0" smtClean="0"/>
              <a:t> </a:t>
            </a:r>
            <a:r>
              <a:rPr lang="fr-FR" sz="2300" dirty="0"/>
              <a:t>Votre employeur offre-t-il des prestations en matière de santé mentale aux employés ?</a:t>
            </a:r>
          </a:p>
          <a:p>
            <a:pPr marL="0" indent="0">
              <a:buNone/>
            </a:pPr>
            <a:endParaRPr lang="fr-FR" dirty="0"/>
          </a:p>
        </p:txBody>
      </p:sp>
      <p:sp>
        <p:nvSpPr>
          <p:cNvPr id="10" name="Zone de texte 11"/>
          <p:cNvSpPr txBox="1"/>
          <p:nvPr/>
        </p:nvSpPr>
        <p:spPr>
          <a:xfrm>
            <a:off x="3164665" y="6165534"/>
            <a:ext cx="5081560" cy="285142"/>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11</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Corrélation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entre </a:t>
            </a:r>
            <a:r>
              <a:rPr lang="fr-FR" sz="1300" i="1" dirty="0" err="1"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benefits</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et </a:t>
            </a:r>
            <a:r>
              <a:rPr lang="fr-FR" sz="1300"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treatment</a:t>
            </a:r>
            <a:endPar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 4"/>
          <p:cNvPicPr/>
          <p:nvPr/>
        </p:nvPicPr>
        <p:blipFill>
          <a:blip r:embed="rId3">
            <a:extLst>
              <a:ext uri="{28A0092B-C50C-407E-A947-70E740481C1C}">
                <a14:useLocalDpi xmlns:a14="http://schemas.microsoft.com/office/drawing/2010/main" val="0"/>
              </a:ext>
            </a:extLst>
          </a:blip>
          <a:stretch>
            <a:fillRect/>
          </a:stretch>
        </p:blipFill>
        <p:spPr>
          <a:xfrm>
            <a:off x="2565860" y="1562794"/>
            <a:ext cx="5996250" cy="4447308"/>
          </a:xfrm>
          <a:prstGeom prst="rect">
            <a:avLst/>
          </a:prstGeom>
        </p:spPr>
      </p:pic>
    </p:spTree>
    <p:extLst>
      <p:ext uri="{BB962C8B-B14F-4D97-AF65-F5344CB8AC3E}">
        <p14:creationId xmlns:p14="http://schemas.microsoft.com/office/powerpoint/2010/main" val="2003181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50208" y="237893"/>
            <a:ext cx="11695427" cy="5406449"/>
          </a:xfrm>
        </p:spPr>
        <p:txBody>
          <a:bodyPr/>
          <a:lstStyle/>
          <a:p>
            <a:pPr marL="0" indent="0">
              <a:buNone/>
            </a:pPr>
            <a:r>
              <a:rPr lang="fr-FR" sz="2300" u="sng" dirty="0" err="1" smtClean="0"/>
              <a:t>mental_health_consequence</a:t>
            </a:r>
            <a:r>
              <a:rPr lang="fr-FR" sz="2300" u="sng" dirty="0" smtClean="0"/>
              <a:t> :</a:t>
            </a:r>
            <a:r>
              <a:rPr lang="fr-FR" sz="2300" dirty="0" smtClean="0"/>
              <a:t> </a:t>
            </a:r>
            <a:r>
              <a:rPr lang="fr-FR" sz="2300" dirty="0"/>
              <a:t>Pensez-vous que le fait de parler d'un problème de santé mentale à votre employeur aurait des conséquences négatives ?</a:t>
            </a:r>
          </a:p>
          <a:p>
            <a:pPr marL="0" indent="0">
              <a:buNone/>
            </a:pPr>
            <a:endParaRPr lang="fr-FR" dirty="0"/>
          </a:p>
        </p:txBody>
      </p:sp>
      <p:sp>
        <p:nvSpPr>
          <p:cNvPr id="10" name="Zone de texte 11"/>
          <p:cNvSpPr txBox="1"/>
          <p:nvPr/>
        </p:nvSpPr>
        <p:spPr>
          <a:xfrm>
            <a:off x="3164665" y="6165534"/>
            <a:ext cx="5081560" cy="285142"/>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12</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Corrélation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entre </a:t>
            </a:r>
            <a:r>
              <a:rPr lang="fr-FR" sz="1300" i="1" dirty="0" err="1"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mental_health_consequence</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et </a:t>
            </a:r>
            <a:r>
              <a:rPr lang="fr-FR" sz="1300"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treatment</a:t>
            </a:r>
            <a:endParaRPr lang="fr-FR" sz="1300"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 4"/>
          <p:cNvPicPr/>
          <p:nvPr/>
        </p:nvPicPr>
        <p:blipFill>
          <a:blip r:embed="rId3">
            <a:extLst>
              <a:ext uri="{28A0092B-C50C-407E-A947-70E740481C1C}">
                <a14:useLocalDpi xmlns:a14="http://schemas.microsoft.com/office/drawing/2010/main" val="0"/>
              </a:ext>
            </a:extLst>
          </a:blip>
          <a:stretch>
            <a:fillRect/>
          </a:stretch>
        </p:blipFill>
        <p:spPr>
          <a:xfrm>
            <a:off x="2782135" y="1745670"/>
            <a:ext cx="6229006" cy="4098178"/>
          </a:xfrm>
          <a:prstGeom prst="rect">
            <a:avLst/>
          </a:prstGeom>
        </p:spPr>
      </p:pic>
    </p:spTree>
    <p:extLst>
      <p:ext uri="{BB962C8B-B14F-4D97-AF65-F5344CB8AC3E}">
        <p14:creationId xmlns:p14="http://schemas.microsoft.com/office/powerpoint/2010/main" val="15605994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50208" y="237894"/>
            <a:ext cx="11695427" cy="1287217"/>
          </a:xfrm>
        </p:spPr>
        <p:txBody>
          <a:bodyPr/>
          <a:lstStyle/>
          <a:p>
            <a:pPr marL="0" indent="0">
              <a:buNone/>
            </a:pPr>
            <a:r>
              <a:rPr lang="fr-FR" sz="2500" u="sng" dirty="0" smtClean="0"/>
              <a:t>3.3 Mise en place d'une base de données analytique:</a:t>
            </a:r>
          </a:p>
          <a:p>
            <a:pPr marL="0" indent="0">
              <a:buNone/>
            </a:pPr>
            <a:r>
              <a:rPr lang="fr-FR" sz="2300" dirty="0" smtClean="0"/>
              <a:t>Les données sont nettoyées puis enregistrées dans une base </a:t>
            </a:r>
            <a:r>
              <a:rPr lang="fr-FR" sz="2300" dirty="0" err="1" smtClean="0"/>
              <a:t>Sqlite</a:t>
            </a:r>
            <a:r>
              <a:rPr lang="fr-FR" sz="2300" dirty="0" smtClean="0"/>
              <a:t>, en vue d'une utilisation postérieure. </a:t>
            </a:r>
            <a:endParaRPr lang="fr-FR" sz="2300" dirty="0"/>
          </a:p>
        </p:txBody>
      </p:sp>
      <p:pic>
        <p:nvPicPr>
          <p:cNvPr id="8" name="Image 7"/>
          <p:cNvPicPr/>
          <p:nvPr/>
        </p:nvPicPr>
        <p:blipFill>
          <a:blip r:embed="rId3">
            <a:extLst>
              <a:ext uri="{28A0092B-C50C-407E-A947-70E740481C1C}">
                <a14:useLocalDpi xmlns:a14="http://schemas.microsoft.com/office/drawing/2010/main" val="0"/>
              </a:ext>
            </a:extLst>
          </a:blip>
          <a:stretch>
            <a:fillRect/>
          </a:stretch>
        </p:blipFill>
        <p:spPr>
          <a:xfrm>
            <a:off x="150208" y="1653829"/>
            <a:ext cx="3056890" cy="4072890"/>
          </a:xfrm>
          <a:prstGeom prst="rect">
            <a:avLst/>
          </a:prstGeom>
        </p:spPr>
      </p:pic>
      <p:sp>
        <p:nvSpPr>
          <p:cNvPr id="10" name="Zone de texte 26"/>
          <p:cNvSpPr txBox="1"/>
          <p:nvPr/>
        </p:nvSpPr>
        <p:spPr>
          <a:xfrm>
            <a:off x="150208" y="5855437"/>
            <a:ext cx="3198206" cy="381144"/>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13</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Modèle relationnel des données de la base de données analytique</a:t>
            </a:r>
          </a:p>
        </p:txBody>
      </p:sp>
      <p:pic>
        <p:nvPicPr>
          <p:cNvPr id="2" name="Image 1"/>
          <p:cNvPicPr>
            <a:picLocks noChangeAspect="1"/>
          </p:cNvPicPr>
          <p:nvPr/>
        </p:nvPicPr>
        <p:blipFill>
          <a:blip r:embed="rId4"/>
          <a:stretch>
            <a:fillRect/>
          </a:stretch>
        </p:blipFill>
        <p:spPr>
          <a:xfrm>
            <a:off x="3731413" y="4596937"/>
            <a:ext cx="8388806" cy="1421477"/>
          </a:xfrm>
          <a:prstGeom prst="rect">
            <a:avLst/>
          </a:prstGeom>
        </p:spPr>
      </p:pic>
      <p:sp>
        <p:nvSpPr>
          <p:cNvPr id="11" name="Zone de texte 26"/>
          <p:cNvSpPr txBox="1"/>
          <p:nvPr/>
        </p:nvSpPr>
        <p:spPr>
          <a:xfrm>
            <a:off x="3731413" y="6327226"/>
            <a:ext cx="5554575" cy="381144"/>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14</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Mise en place de </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la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base de données analytique</a:t>
            </a:r>
          </a:p>
        </p:txBody>
      </p:sp>
      <p:sp>
        <p:nvSpPr>
          <p:cNvPr id="12" name="Espace réservé du contenu 2">
            <a:extLst>
              <a:ext uri="{FF2B5EF4-FFF2-40B4-BE49-F238E27FC236}">
                <a16:creationId xmlns:a16="http://schemas.microsoft.com/office/drawing/2014/main" id="{6B409ECA-B691-5B1C-5CCA-878C261674CB}"/>
              </a:ext>
            </a:extLst>
          </p:cNvPr>
          <p:cNvSpPr txBox="1">
            <a:spLocks/>
          </p:cNvSpPr>
          <p:nvPr/>
        </p:nvSpPr>
        <p:spPr>
          <a:xfrm>
            <a:off x="3670213" y="1694989"/>
            <a:ext cx="7344151" cy="2738962"/>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500" u="sng" dirty="0" smtClean="0"/>
              <a:t>Procédure de mise en place </a:t>
            </a:r>
            <a:r>
              <a:rPr lang="fr-FR" sz="2500" dirty="0" smtClean="0"/>
              <a:t>: </a:t>
            </a:r>
          </a:p>
          <a:p>
            <a:pPr marL="0" indent="0">
              <a:buNone/>
            </a:pPr>
            <a:r>
              <a:rPr lang="fr-FR" sz="2500" dirty="0"/>
              <a:t>- Plan MCD et MLD.</a:t>
            </a:r>
          </a:p>
          <a:p>
            <a:pPr marL="0" indent="0">
              <a:buNone/>
            </a:pPr>
            <a:r>
              <a:rPr lang="fr-FR" sz="2500" dirty="0"/>
              <a:t>- Téléchargement de </a:t>
            </a:r>
            <a:r>
              <a:rPr lang="fr-FR" sz="2500" dirty="0" err="1"/>
              <a:t>SQLite</a:t>
            </a:r>
            <a:endParaRPr lang="fr-FR" sz="2500" dirty="0"/>
          </a:p>
          <a:p>
            <a:pPr marL="0" indent="0">
              <a:buNone/>
            </a:pPr>
            <a:r>
              <a:rPr lang="fr-FR" sz="2500" dirty="0"/>
              <a:t>- Installation</a:t>
            </a:r>
          </a:p>
          <a:p>
            <a:pPr marL="0" indent="0">
              <a:buNone/>
            </a:pPr>
            <a:r>
              <a:rPr lang="fr-FR" sz="2500" dirty="0"/>
              <a:t>- Ajout du chemin du dossier dans ma variable d'environnement PATH</a:t>
            </a:r>
          </a:p>
          <a:p>
            <a:pPr marL="0" indent="0">
              <a:buNone/>
            </a:pPr>
            <a:r>
              <a:rPr lang="fr-FR" sz="2500" dirty="0"/>
              <a:t>- Test de lancement de l'application dans le terminal</a:t>
            </a:r>
          </a:p>
          <a:p>
            <a:pPr marL="0" indent="0">
              <a:buFont typeface="Arial" panose="020B0604020202020204" pitchFamily="34" charset="0"/>
              <a:buNone/>
            </a:pPr>
            <a:endParaRPr lang="fr-FR" dirty="0"/>
          </a:p>
        </p:txBody>
      </p:sp>
    </p:spTree>
    <p:extLst>
      <p:ext uri="{BB962C8B-B14F-4D97-AF65-F5344CB8AC3E}">
        <p14:creationId xmlns:p14="http://schemas.microsoft.com/office/powerpoint/2010/main" val="29053478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92019" y="1451551"/>
            <a:ext cx="11695427" cy="5406449"/>
          </a:xfrm>
        </p:spPr>
        <p:txBody>
          <a:bodyPr/>
          <a:lstStyle/>
          <a:p>
            <a:pPr marL="0" indent="0">
              <a:buNone/>
            </a:pPr>
            <a:r>
              <a:rPr lang="fr-FR" sz="2500" u="sng" dirty="0" smtClean="0"/>
              <a:t>4.1 Résultat à l'issue de la récupération des données de la base :</a:t>
            </a:r>
          </a:p>
          <a:p>
            <a:pPr marL="0" indent="0">
              <a:buNone/>
            </a:pPr>
            <a:endParaRPr lang="fr-FR" u="sng" dirty="0" smtClean="0"/>
          </a:p>
          <a:p>
            <a:pPr marL="0" indent="0">
              <a:buNone/>
            </a:pPr>
            <a:endParaRPr lang="fr-FR" u="sng" dirty="0"/>
          </a:p>
          <a:p>
            <a:pPr marL="0" indent="0">
              <a:buNone/>
            </a:pPr>
            <a:endParaRPr lang="fr-FR" u="sng" dirty="0" smtClean="0"/>
          </a:p>
          <a:p>
            <a:pPr marL="0" indent="0">
              <a:buNone/>
            </a:pPr>
            <a:endParaRPr lang="fr-FR" dirty="0"/>
          </a:p>
        </p:txBody>
      </p:sp>
      <p:sp>
        <p:nvSpPr>
          <p:cNvPr id="8" name="Titre 1">
            <a:extLst>
              <a:ext uri="{FF2B5EF4-FFF2-40B4-BE49-F238E27FC236}">
                <a16:creationId xmlns:a16="http://schemas.microsoft.com/office/drawing/2014/main" id="{E9C259C4-15CF-5FF1-5FA6-82A0B80722A6}"/>
              </a:ext>
            </a:extLst>
          </p:cNvPr>
          <p:cNvSpPr>
            <a:spLocks noGrp="1"/>
          </p:cNvSpPr>
          <p:nvPr>
            <p:ph type="title"/>
          </p:nvPr>
        </p:nvSpPr>
        <p:spPr>
          <a:xfrm>
            <a:off x="92019" y="121513"/>
            <a:ext cx="11495923" cy="1216835"/>
          </a:xfrm>
        </p:spPr>
        <p:txBody>
          <a:bodyPr/>
          <a:lstStyle/>
          <a:p>
            <a:r>
              <a:rPr lang="fr-FR" dirty="0"/>
              <a:t>4</a:t>
            </a:r>
            <a:r>
              <a:rPr lang="fr-FR" dirty="0" smtClean="0"/>
              <a:t>. Développer un programme d'intelligence artificielle</a:t>
            </a:r>
            <a:endParaRPr lang="fr-FR" dirty="0"/>
          </a:p>
        </p:txBody>
      </p:sp>
      <p:pic>
        <p:nvPicPr>
          <p:cNvPr id="4" name="Image 3"/>
          <p:cNvPicPr>
            <a:picLocks noChangeAspect="1"/>
          </p:cNvPicPr>
          <p:nvPr/>
        </p:nvPicPr>
        <p:blipFill>
          <a:blip r:embed="rId3"/>
          <a:stretch>
            <a:fillRect/>
          </a:stretch>
        </p:blipFill>
        <p:spPr>
          <a:xfrm>
            <a:off x="200574" y="2029681"/>
            <a:ext cx="12092878" cy="4433181"/>
          </a:xfrm>
          <a:prstGeom prst="rect">
            <a:avLst/>
          </a:prstGeom>
        </p:spPr>
      </p:pic>
      <p:sp>
        <p:nvSpPr>
          <p:cNvPr id="7" name="Zone de texte 26"/>
          <p:cNvSpPr txBox="1"/>
          <p:nvPr/>
        </p:nvSpPr>
        <p:spPr>
          <a:xfrm>
            <a:off x="285405" y="6536011"/>
            <a:ext cx="5554575" cy="248839"/>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15</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Récupération des données de la base de données analytique</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484603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200574" y="178227"/>
            <a:ext cx="11695427" cy="6563395"/>
          </a:xfrm>
        </p:spPr>
        <p:txBody>
          <a:bodyPr/>
          <a:lstStyle/>
          <a:p>
            <a:pPr marL="0" indent="0">
              <a:buNone/>
            </a:pPr>
            <a:r>
              <a:rPr lang="fr-FR" sz="2500" u="sng" dirty="0" smtClean="0"/>
              <a:t>4.2 Outils utilisés : </a:t>
            </a:r>
          </a:p>
          <a:p>
            <a:pPr marL="0" indent="0">
              <a:buNone/>
            </a:pPr>
            <a:endParaRPr lang="fr-FR" u="sng" dirty="0" smtClean="0"/>
          </a:p>
          <a:p>
            <a:pPr marL="0" indent="0">
              <a:buNone/>
            </a:pPr>
            <a:r>
              <a:rPr lang="fr-FR" sz="2300" dirty="0" err="1"/>
              <a:t>J</a:t>
            </a:r>
            <a:r>
              <a:rPr lang="fr-FR" sz="2300" dirty="0" err="1" smtClean="0"/>
              <a:t>upyter</a:t>
            </a:r>
            <a:r>
              <a:rPr lang="fr-FR" sz="2300" dirty="0" smtClean="0"/>
              <a:t> notebook</a:t>
            </a:r>
          </a:p>
          <a:p>
            <a:pPr marL="0" indent="0">
              <a:buNone/>
            </a:pPr>
            <a:r>
              <a:rPr lang="fr-FR" sz="2300" dirty="0" smtClean="0"/>
              <a:t>Librairie </a:t>
            </a:r>
            <a:r>
              <a:rPr lang="fr-FR" sz="2300" dirty="0" err="1" smtClean="0"/>
              <a:t>Scikit-learn</a:t>
            </a:r>
            <a:endParaRPr lang="fr-FR" sz="2300" dirty="0" smtClean="0"/>
          </a:p>
          <a:p>
            <a:pPr marL="0" indent="0">
              <a:buNone/>
            </a:pPr>
            <a:endParaRPr lang="fr-FR" sz="2300" dirty="0" smtClean="0"/>
          </a:p>
          <a:p>
            <a:pPr marL="0" indent="0">
              <a:buNone/>
            </a:pPr>
            <a:r>
              <a:rPr lang="fr-FR" sz="2300" dirty="0" smtClean="0"/>
              <a:t>Liste des modèles comparés : </a:t>
            </a:r>
          </a:p>
          <a:p>
            <a:pPr marL="0" indent="0">
              <a:buNone/>
            </a:pPr>
            <a:endParaRPr lang="fr-FR" sz="2300" dirty="0" smtClean="0"/>
          </a:p>
          <a:p>
            <a:pPr marL="0" indent="0">
              <a:buNone/>
            </a:pPr>
            <a:r>
              <a:rPr lang="fr-FR" sz="2300" dirty="0"/>
              <a:t>	- </a:t>
            </a:r>
            <a:r>
              <a:rPr lang="fr-FR" sz="2300" dirty="0" err="1"/>
              <a:t>LogisticRegression</a:t>
            </a:r>
            <a:endParaRPr lang="fr-FR" sz="2300" dirty="0"/>
          </a:p>
          <a:p>
            <a:pPr marL="0" indent="0">
              <a:buNone/>
            </a:pPr>
            <a:r>
              <a:rPr lang="fr-FR" sz="2300" dirty="0"/>
              <a:t>	- </a:t>
            </a:r>
            <a:r>
              <a:rPr lang="fr-FR" sz="2300" dirty="0" err="1" smtClean="0"/>
              <a:t>KNeighborsClassifier</a:t>
            </a:r>
            <a:endParaRPr lang="fr-FR" sz="2300" dirty="0"/>
          </a:p>
          <a:p>
            <a:pPr marL="0" indent="0">
              <a:buNone/>
            </a:pPr>
            <a:r>
              <a:rPr lang="fr-FR" sz="2300" dirty="0"/>
              <a:t>	- </a:t>
            </a:r>
            <a:r>
              <a:rPr lang="fr-FR" sz="2300" dirty="0" err="1"/>
              <a:t>DecisionTreeClassifier</a:t>
            </a:r>
            <a:endParaRPr lang="fr-FR" sz="2300" dirty="0"/>
          </a:p>
          <a:p>
            <a:pPr marL="0" indent="0">
              <a:buNone/>
            </a:pPr>
            <a:r>
              <a:rPr lang="fr-FR" sz="2300" dirty="0"/>
              <a:t>	- </a:t>
            </a:r>
            <a:r>
              <a:rPr lang="fr-FR" sz="2300" dirty="0" err="1"/>
              <a:t>AdaBoostClassifier</a:t>
            </a:r>
            <a:endParaRPr lang="fr-FR" sz="2300" dirty="0"/>
          </a:p>
          <a:p>
            <a:pPr marL="0" indent="0">
              <a:buNone/>
            </a:pPr>
            <a:r>
              <a:rPr lang="fr-FR" sz="2300" dirty="0"/>
              <a:t>	- </a:t>
            </a:r>
            <a:r>
              <a:rPr lang="fr-FR" sz="2300" dirty="0" err="1"/>
              <a:t>GradientBoostingClassifier</a:t>
            </a:r>
            <a:endParaRPr lang="fr-FR" sz="2300" dirty="0"/>
          </a:p>
          <a:p>
            <a:pPr marL="0" indent="0">
              <a:buNone/>
            </a:pPr>
            <a:r>
              <a:rPr lang="fr-FR" sz="2300" dirty="0"/>
              <a:t>	- </a:t>
            </a:r>
            <a:r>
              <a:rPr lang="fr-FR" sz="2300" dirty="0" err="1"/>
              <a:t>RandomForestClassifier</a:t>
            </a:r>
            <a:endParaRPr lang="fr-FR" sz="2300" dirty="0"/>
          </a:p>
          <a:p>
            <a:pPr marL="0" indent="0">
              <a:buNone/>
            </a:pPr>
            <a:endParaRPr lang="fr-FR" u="sng" dirty="0"/>
          </a:p>
          <a:p>
            <a:pPr marL="0" indent="0">
              <a:buNone/>
            </a:pPr>
            <a:endParaRPr lang="fr-FR" u="sng" dirty="0" smtClean="0"/>
          </a:p>
          <a:p>
            <a:pPr marL="0" indent="0">
              <a:buNone/>
            </a:pPr>
            <a:endParaRPr lang="fr-FR" dirty="0"/>
          </a:p>
        </p:txBody>
      </p:sp>
    </p:spTree>
    <p:extLst>
      <p:ext uri="{BB962C8B-B14F-4D97-AF65-F5344CB8AC3E}">
        <p14:creationId xmlns:p14="http://schemas.microsoft.com/office/powerpoint/2010/main" val="30841191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200574" y="178227"/>
            <a:ext cx="11695427" cy="6563395"/>
          </a:xfrm>
        </p:spPr>
        <p:txBody>
          <a:bodyPr/>
          <a:lstStyle/>
          <a:p>
            <a:pPr marL="0" indent="0">
              <a:buNone/>
            </a:pPr>
            <a:r>
              <a:rPr lang="fr-FR" sz="2500" u="sng" dirty="0" smtClean="0"/>
              <a:t>4.3 Formalisation de la méthode d'entraînement: </a:t>
            </a:r>
          </a:p>
          <a:p>
            <a:pPr marL="0" indent="0">
              <a:buNone/>
            </a:pPr>
            <a:endParaRPr lang="fr-FR" u="sng" dirty="0" smtClean="0"/>
          </a:p>
          <a:p>
            <a:pPr marL="0" indent="0">
              <a:buNone/>
            </a:pPr>
            <a:r>
              <a:rPr lang="fr-FR" sz="2300" dirty="0" smtClean="0"/>
              <a:t>- Chargement des données</a:t>
            </a:r>
          </a:p>
          <a:p>
            <a:pPr marL="0" indent="0">
              <a:buNone/>
            </a:pPr>
            <a:r>
              <a:rPr lang="fr-FR" sz="2300" dirty="0" smtClean="0"/>
              <a:t>- Séparation du jeu en entrées et sorties du modèle : </a:t>
            </a:r>
          </a:p>
          <a:p>
            <a:pPr marL="0" indent="0">
              <a:buNone/>
            </a:pPr>
            <a:endParaRPr lang="fr-FR" sz="2300" u="sng" dirty="0"/>
          </a:p>
          <a:p>
            <a:pPr marL="0" indent="0">
              <a:buNone/>
            </a:pPr>
            <a:endParaRPr lang="fr-FR" sz="2300" dirty="0" smtClean="0"/>
          </a:p>
          <a:p>
            <a:pPr marL="0" indent="0">
              <a:buNone/>
            </a:pPr>
            <a:endParaRPr lang="fr-FR" sz="2300" dirty="0" smtClean="0"/>
          </a:p>
          <a:p>
            <a:pPr marL="0" indent="0">
              <a:buNone/>
            </a:pPr>
            <a:r>
              <a:rPr lang="fr-FR" sz="2300" dirty="0" smtClean="0"/>
              <a:t>- </a:t>
            </a:r>
            <a:r>
              <a:rPr lang="fr-FR" sz="2300" dirty="0"/>
              <a:t>Séparation en jeu d'entrainement et de </a:t>
            </a:r>
            <a:r>
              <a:rPr lang="fr-FR" sz="2300" dirty="0" smtClean="0"/>
              <a:t>test</a:t>
            </a:r>
          </a:p>
          <a:p>
            <a:pPr marL="0" indent="0">
              <a:buNone/>
            </a:pPr>
            <a:endParaRPr lang="fr-FR" sz="2300" dirty="0"/>
          </a:p>
          <a:p>
            <a:pPr marL="0" indent="0">
              <a:buNone/>
            </a:pPr>
            <a:endParaRPr lang="fr-FR" sz="2300" dirty="0" smtClean="0"/>
          </a:p>
          <a:p>
            <a:pPr marL="0" indent="0">
              <a:buNone/>
            </a:pPr>
            <a:r>
              <a:rPr lang="fr-FR" sz="2300" dirty="0" smtClean="0"/>
              <a:t>- Prétraitement de colonnes</a:t>
            </a:r>
          </a:p>
          <a:p>
            <a:pPr marL="0" indent="0">
              <a:buNone/>
            </a:pPr>
            <a:endParaRPr lang="fr-FR" sz="2300" dirty="0"/>
          </a:p>
          <a:p>
            <a:pPr marL="0" indent="0">
              <a:buNone/>
            </a:pPr>
            <a:endParaRPr lang="fr-FR" dirty="0"/>
          </a:p>
        </p:txBody>
      </p:sp>
      <p:pic>
        <p:nvPicPr>
          <p:cNvPr id="2" name="Image 1"/>
          <p:cNvPicPr>
            <a:picLocks noChangeAspect="1"/>
          </p:cNvPicPr>
          <p:nvPr/>
        </p:nvPicPr>
        <p:blipFill>
          <a:blip r:embed="rId3"/>
          <a:stretch>
            <a:fillRect/>
          </a:stretch>
        </p:blipFill>
        <p:spPr>
          <a:xfrm>
            <a:off x="367334" y="2264164"/>
            <a:ext cx="3009900" cy="533400"/>
          </a:xfrm>
          <a:prstGeom prst="rect">
            <a:avLst/>
          </a:prstGeom>
        </p:spPr>
      </p:pic>
      <p:sp>
        <p:nvSpPr>
          <p:cNvPr id="4" name="Zone de texte 26"/>
          <p:cNvSpPr txBox="1"/>
          <p:nvPr/>
        </p:nvSpPr>
        <p:spPr>
          <a:xfrm>
            <a:off x="3543994" y="2382259"/>
            <a:ext cx="5554575" cy="248839"/>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16</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Séparation X y</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 4"/>
          <p:cNvPicPr>
            <a:picLocks noChangeAspect="1"/>
          </p:cNvPicPr>
          <p:nvPr/>
        </p:nvPicPr>
        <p:blipFill>
          <a:blip r:embed="rId4"/>
          <a:stretch>
            <a:fillRect/>
          </a:stretch>
        </p:blipFill>
        <p:spPr>
          <a:xfrm>
            <a:off x="367334" y="3867952"/>
            <a:ext cx="8420100" cy="342900"/>
          </a:xfrm>
          <a:prstGeom prst="rect">
            <a:avLst/>
          </a:prstGeom>
        </p:spPr>
      </p:pic>
      <p:sp>
        <p:nvSpPr>
          <p:cNvPr id="6" name="Zone de texte 26"/>
          <p:cNvSpPr txBox="1"/>
          <p:nvPr/>
        </p:nvSpPr>
        <p:spPr>
          <a:xfrm>
            <a:off x="8954194" y="3914982"/>
            <a:ext cx="2857221" cy="248839"/>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17</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Séparation en jeux train et test</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Image 6"/>
          <p:cNvPicPr>
            <a:picLocks noChangeAspect="1"/>
          </p:cNvPicPr>
          <p:nvPr/>
        </p:nvPicPr>
        <p:blipFill>
          <a:blip r:embed="rId5"/>
          <a:stretch>
            <a:fillRect/>
          </a:stretch>
        </p:blipFill>
        <p:spPr>
          <a:xfrm>
            <a:off x="367334" y="5232535"/>
            <a:ext cx="4876800" cy="981075"/>
          </a:xfrm>
          <a:prstGeom prst="rect">
            <a:avLst/>
          </a:prstGeom>
        </p:spPr>
      </p:pic>
      <p:sp>
        <p:nvSpPr>
          <p:cNvPr id="8" name="Zone de texte 26"/>
          <p:cNvSpPr txBox="1"/>
          <p:nvPr/>
        </p:nvSpPr>
        <p:spPr>
          <a:xfrm>
            <a:off x="5654657" y="5598652"/>
            <a:ext cx="2857221" cy="248839"/>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18</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err="1"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Preprocessing</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 de colonnes</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752419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200574" y="178227"/>
            <a:ext cx="11695427" cy="6563395"/>
          </a:xfrm>
        </p:spPr>
        <p:txBody>
          <a:bodyPr/>
          <a:lstStyle/>
          <a:p>
            <a:pPr marL="0" indent="0">
              <a:buNone/>
            </a:pPr>
            <a:r>
              <a:rPr lang="fr-FR" sz="2300" dirty="0" smtClean="0"/>
              <a:t>- Entraînement des modèles</a:t>
            </a:r>
            <a:endParaRPr lang="fr-FR" sz="2300" dirty="0"/>
          </a:p>
          <a:p>
            <a:pPr marL="0" indent="0">
              <a:buNone/>
            </a:pPr>
            <a:endParaRPr lang="fr-FR" dirty="0"/>
          </a:p>
        </p:txBody>
      </p:sp>
      <p:pic>
        <p:nvPicPr>
          <p:cNvPr id="9" name="Image 8"/>
          <p:cNvPicPr>
            <a:picLocks noChangeAspect="1"/>
          </p:cNvPicPr>
          <p:nvPr/>
        </p:nvPicPr>
        <p:blipFill>
          <a:blip r:embed="rId3"/>
          <a:stretch>
            <a:fillRect/>
          </a:stretch>
        </p:blipFill>
        <p:spPr>
          <a:xfrm>
            <a:off x="362036" y="648912"/>
            <a:ext cx="5915025" cy="1885950"/>
          </a:xfrm>
          <a:prstGeom prst="rect">
            <a:avLst/>
          </a:prstGeom>
        </p:spPr>
      </p:pic>
      <p:pic>
        <p:nvPicPr>
          <p:cNvPr id="10" name="Image 9"/>
          <p:cNvPicPr>
            <a:picLocks noChangeAspect="1"/>
          </p:cNvPicPr>
          <p:nvPr/>
        </p:nvPicPr>
        <p:blipFill>
          <a:blip r:embed="rId4"/>
          <a:stretch>
            <a:fillRect/>
          </a:stretch>
        </p:blipFill>
        <p:spPr>
          <a:xfrm>
            <a:off x="362036" y="2938462"/>
            <a:ext cx="6915150" cy="3067050"/>
          </a:xfrm>
          <a:prstGeom prst="rect">
            <a:avLst/>
          </a:prstGeom>
        </p:spPr>
      </p:pic>
      <p:sp>
        <p:nvSpPr>
          <p:cNvPr id="11" name="Zone de texte 26"/>
          <p:cNvSpPr txBox="1"/>
          <p:nvPr/>
        </p:nvSpPr>
        <p:spPr>
          <a:xfrm>
            <a:off x="6643872" y="1467467"/>
            <a:ext cx="3622346" cy="248839"/>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19</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Définition du dictionnaire de modèles</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Zone de texte 26"/>
          <p:cNvSpPr txBox="1"/>
          <p:nvPr/>
        </p:nvSpPr>
        <p:spPr>
          <a:xfrm>
            <a:off x="7865842" y="4409662"/>
            <a:ext cx="2857221" cy="248839"/>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20</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Cellule d'entraînement</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747906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200574" y="178227"/>
            <a:ext cx="11695427" cy="6563395"/>
          </a:xfrm>
        </p:spPr>
        <p:txBody>
          <a:bodyPr/>
          <a:lstStyle/>
          <a:p>
            <a:pPr marL="0" indent="0">
              <a:buNone/>
            </a:pPr>
            <a:r>
              <a:rPr lang="fr-FR" sz="2300" dirty="0" smtClean="0"/>
              <a:t>- Affichage des résultats</a:t>
            </a:r>
          </a:p>
          <a:p>
            <a:pPr marL="0" indent="0">
              <a:buNone/>
            </a:pPr>
            <a:endParaRPr lang="fr-FR" sz="2300" dirty="0"/>
          </a:p>
          <a:p>
            <a:pPr marL="0" indent="0">
              <a:buNone/>
            </a:pPr>
            <a:endParaRPr lang="fr-FR" sz="2300" dirty="0" smtClean="0"/>
          </a:p>
          <a:p>
            <a:pPr marL="0" indent="0">
              <a:buNone/>
            </a:pPr>
            <a:endParaRPr lang="fr-FR" sz="2300" dirty="0"/>
          </a:p>
          <a:p>
            <a:pPr marL="0" indent="0">
              <a:buNone/>
            </a:pPr>
            <a:endParaRPr lang="fr-FR" sz="2300" dirty="0" smtClean="0"/>
          </a:p>
          <a:p>
            <a:pPr marL="0" indent="0">
              <a:buNone/>
            </a:pPr>
            <a:endParaRPr lang="fr-FR" sz="2300" dirty="0" smtClean="0"/>
          </a:p>
          <a:p>
            <a:pPr marL="0" indent="0">
              <a:buNone/>
            </a:pPr>
            <a:endParaRPr lang="fr-FR" sz="2300" dirty="0"/>
          </a:p>
          <a:p>
            <a:pPr marL="0" indent="0">
              <a:buNone/>
            </a:pPr>
            <a:r>
              <a:rPr lang="fr-FR" sz="2300" dirty="0" smtClean="0"/>
              <a:t>- Enregistrement du meilleur pipeline</a:t>
            </a:r>
            <a:endParaRPr lang="fr-FR" sz="2300" dirty="0"/>
          </a:p>
          <a:p>
            <a:pPr marL="0" indent="0">
              <a:buNone/>
            </a:pPr>
            <a:endParaRPr lang="fr-FR" dirty="0"/>
          </a:p>
        </p:txBody>
      </p:sp>
      <p:sp>
        <p:nvSpPr>
          <p:cNvPr id="12" name="Zone de texte 26"/>
          <p:cNvSpPr txBox="1"/>
          <p:nvPr/>
        </p:nvSpPr>
        <p:spPr>
          <a:xfrm>
            <a:off x="392700" y="2439546"/>
            <a:ext cx="2857221" cy="248839"/>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21</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Résultats</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 name="Image 1"/>
          <p:cNvPicPr>
            <a:picLocks noChangeAspect="1"/>
          </p:cNvPicPr>
          <p:nvPr/>
        </p:nvPicPr>
        <p:blipFill>
          <a:blip r:embed="rId3"/>
          <a:stretch>
            <a:fillRect/>
          </a:stretch>
        </p:blipFill>
        <p:spPr>
          <a:xfrm>
            <a:off x="154706" y="854663"/>
            <a:ext cx="11741295" cy="1253131"/>
          </a:xfrm>
          <a:prstGeom prst="rect">
            <a:avLst/>
          </a:prstGeom>
        </p:spPr>
      </p:pic>
      <p:pic>
        <p:nvPicPr>
          <p:cNvPr id="4" name="Image 3"/>
          <p:cNvPicPr>
            <a:picLocks noChangeAspect="1"/>
          </p:cNvPicPr>
          <p:nvPr/>
        </p:nvPicPr>
        <p:blipFill>
          <a:blip r:embed="rId4"/>
          <a:stretch>
            <a:fillRect/>
          </a:stretch>
        </p:blipFill>
        <p:spPr>
          <a:xfrm>
            <a:off x="154706" y="3967725"/>
            <a:ext cx="7562850" cy="333375"/>
          </a:xfrm>
          <a:prstGeom prst="rect">
            <a:avLst/>
          </a:prstGeom>
        </p:spPr>
      </p:pic>
      <p:sp>
        <p:nvSpPr>
          <p:cNvPr id="13" name="Zone de texte 26"/>
          <p:cNvSpPr txBox="1"/>
          <p:nvPr/>
        </p:nvSpPr>
        <p:spPr>
          <a:xfrm>
            <a:off x="392699" y="4534245"/>
            <a:ext cx="2857221" cy="248839"/>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22</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Sauvegarde</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752999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92019" y="182014"/>
            <a:ext cx="8519477" cy="6563395"/>
          </a:xfrm>
        </p:spPr>
        <p:txBody>
          <a:bodyPr>
            <a:normAutofit/>
          </a:bodyPr>
          <a:lstStyle/>
          <a:p>
            <a:pPr marL="0" indent="0">
              <a:buNone/>
            </a:pPr>
            <a:endParaRPr lang="fr-FR" sz="2300" dirty="0" smtClean="0"/>
          </a:p>
          <a:p>
            <a:pPr marL="0" indent="0">
              <a:buNone/>
            </a:pPr>
            <a:endParaRPr lang="fr-FR" sz="2300" dirty="0"/>
          </a:p>
          <a:p>
            <a:pPr marL="0" indent="0">
              <a:buNone/>
            </a:pPr>
            <a:endParaRPr lang="fr-FR" sz="2300" dirty="0"/>
          </a:p>
          <a:p>
            <a:pPr marL="0" indent="0">
              <a:buNone/>
            </a:pPr>
            <a:r>
              <a:rPr lang="fr-FR" sz="2500" u="sng" dirty="0" smtClean="0"/>
              <a:t>5.1 Formalisation du back-end et du front</a:t>
            </a:r>
          </a:p>
          <a:p>
            <a:pPr marL="0" indent="0">
              <a:buNone/>
            </a:pPr>
            <a:endParaRPr lang="fr-FR" sz="2500" u="sng" dirty="0" smtClean="0"/>
          </a:p>
          <a:p>
            <a:pPr marL="0" indent="0">
              <a:buNone/>
            </a:pPr>
            <a:r>
              <a:rPr lang="fr-FR" sz="2300" dirty="0" smtClean="0"/>
              <a:t>Sur l'application, nécessité d'une fonctionnalité de prédiction.</a:t>
            </a:r>
          </a:p>
          <a:p>
            <a:pPr marL="0" indent="0">
              <a:buNone/>
            </a:pPr>
            <a:r>
              <a:rPr lang="fr-FR" sz="2300" dirty="0" smtClean="0"/>
              <a:t>Permet l'interaction avec le modèle d'IA -&gt; API </a:t>
            </a:r>
            <a:r>
              <a:rPr lang="fr-FR" sz="2300" dirty="0" err="1" smtClean="0"/>
              <a:t>FastAPI</a:t>
            </a:r>
            <a:endParaRPr lang="fr-FR" sz="2300" dirty="0"/>
          </a:p>
        </p:txBody>
      </p: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8763" y="3463712"/>
            <a:ext cx="6075250" cy="2829021"/>
          </a:xfrm>
          <a:prstGeom prst="rect">
            <a:avLst/>
          </a:prstGeom>
        </p:spPr>
      </p:pic>
      <p:sp>
        <p:nvSpPr>
          <p:cNvPr id="8" name="Zone de texte 26"/>
          <p:cNvSpPr txBox="1"/>
          <p:nvPr/>
        </p:nvSpPr>
        <p:spPr>
          <a:xfrm>
            <a:off x="434262" y="6392758"/>
            <a:ext cx="4470246" cy="248839"/>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23</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Formalisation des fonctionnalités de l'application</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Imag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59437" y="935996"/>
            <a:ext cx="2606040" cy="5212080"/>
          </a:xfrm>
          <a:prstGeom prst="rect">
            <a:avLst/>
          </a:prstGeom>
        </p:spPr>
      </p:pic>
      <p:sp>
        <p:nvSpPr>
          <p:cNvPr id="10" name="Zone de texte 26"/>
          <p:cNvSpPr txBox="1"/>
          <p:nvPr/>
        </p:nvSpPr>
        <p:spPr>
          <a:xfrm>
            <a:off x="8046720" y="6392758"/>
            <a:ext cx="2920953" cy="248839"/>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24</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Architecture de l'application</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itre 1">
            <a:extLst>
              <a:ext uri="{FF2B5EF4-FFF2-40B4-BE49-F238E27FC236}">
                <a16:creationId xmlns:a16="http://schemas.microsoft.com/office/drawing/2014/main" id="{E9C259C4-15CF-5FF1-5FA6-82A0B80722A6}"/>
              </a:ext>
            </a:extLst>
          </p:cNvPr>
          <p:cNvSpPr>
            <a:spLocks noGrp="1"/>
          </p:cNvSpPr>
          <p:nvPr>
            <p:ph type="title"/>
          </p:nvPr>
        </p:nvSpPr>
        <p:spPr>
          <a:xfrm>
            <a:off x="92019" y="121513"/>
            <a:ext cx="11753617" cy="1216835"/>
          </a:xfrm>
        </p:spPr>
        <p:txBody>
          <a:bodyPr/>
          <a:lstStyle/>
          <a:p>
            <a:r>
              <a:rPr lang="fr-FR" dirty="0" smtClean="0"/>
              <a:t>5. Développer une application d'intelligence artificielle</a:t>
            </a:r>
            <a:endParaRPr lang="fr-FR" dirty="0"/>
          </a:p>
        </p:txBody>
      </p:sp>
    </p:spTree>
    <p:extLst>
      <p:ext uri="{BB962C8B-B14F-4D97-AF65-F5344CB8AC3E}">
        <p14:creationId xmlns:p14="http://schemas.microsoft.com/office/powerpoint/2010/main" val="528128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42385" y="106753"/>
            <a:ext cx="11891725" cy="6563395"/>
          </a:xfrm>
        </p:spPr>
        <p:txBody>
          <a:bodyPr>
            <a:normAutofit/>
          </a:bodyPr>
          <a:lstStyle/>
          <a:p>
            <a:pPr marL="0" indent="0">
              <a:buNone/>
            </a:pPr>
            <a:r>
              <a:rPr lang="fr-FR" sz="2500" u="sng" dirty="0" smtClean="0"/>
              <a:t>5.2 Base de donnée de prédictions</a:t>
            </a:r>
          </a:p>
          <a:p>
            <a:pPr marL="0" indent="0">
              <a:buNone/>
            </a:pPr>
            <a:r>
              <a:rPr lang="fr-FR" sz="2300" dirty="0" smtClean="0"/>
              <a:t>Besoin d'enregistrer en base chaque questionnaire rempli et sa prédiction</a:t>
            </a:r>
          </a:p>
          <a:p>
            <a:pPr marL="0" indent="0">
              <a:buNone/>
            </a:pPr>
            <a:r>
              <a:rPr lang="fr-FR" sz="2300" dirty="0" smtClean="0"/>
              <a:t>-&gt; BDD relationnelle </a:t>
            </a:r>
            <a:r>
              <a:rPr lang="fr-FR" sz="2300" dirty="0" err="1" smtClean="0"/>
              <a:t>SQLite</a:t>
            </a:r>
            <a:endParaRPr lang="fr-FR" sz="2300" dirty="0" smtClean="0"/>
          </a:p>
          <a:p>
            <a:pPr marL="0" indent="0">
              <a:buNone/>
            </a:pPr>
            <a:endParaRPr lang="fr-FR" sz="2300" dirty="0"/>
          </a:p>
        </p:txBody>
      </p:sp>
      <p:sp>
        <p:nvSpPr>
          <p:cNvPr id="10" name="Zone de texte 26"/>
          <p:cNvSpPr txBox="1"/>
          <p:nvPr/>
        </p:nvSpPr>
        <p:spPr>
          <a:xfrm>
            <a:off x="526894" y="6515544"/>
            <a:ext cx="6447484" cy="248839"/>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24</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Modèle relationnel des données</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Image 3"/>
          <p:cNvPicPr>
            <a:picLocks noChangeAspect="1"/>
          </p:cNvPicPr>
          <p:nvPr/>
        </p:nvPicPr>
        <p:blipFill>
          <a:blip r:embed="rId3"/>
          <a:stretch>
            <a:fillRect/>
          </a:stretch>
        </p:blipFill>
        <p:spPr>
          <a:xfrm>
            <a:off x="410516" y="1467294"/>
            <a:ext cx="8562975" cy="5048250"/>
          </a:xfrm>
          <a:prstGeom prst="rect">
            <a:avLst/>
          </a:prstGeom>
        </p:spPr>
      </p:pic>
    </p:spTree>
    <p:extLst>
      <p:ext uri="{BB962C8B-B14F-4D97-AF65-F5344CB8AC3E}">
        <p14:creationId xmlns:p14="http://schemas.microsoft.com/office/powerpoint/2010/main" val="36482119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B409ECA-B691-5B1C-5CCA-878C261674CB}"/>
              </a:ext>
            </a:extLst>
          </p:cNvPr>
          <p:cNvSpPr>
            <a:spLocks noGrp="1"/>
          </p:cNvSpPr>
          <p:nvPr>
            <p:ph idx="1"/>
          </p:nvPr>
        </p:nvSpPr>
        <p:spPr>
          <a:xfrm>
            <a:off x="142385" y="106753"/>
            <a:ext cx="11891725" cy="6563395"/>
          </a:xfrm>
        </p:spPr>
        <p:txBody>
          <a:bodyPr>
            <a:normAutofit/>
          </a:bodyPr>
          <a:lstStyle/>
          <a:p>
            <a:pPr marL="0" indent="0">
              <a:buNone/>
            </a:pPr>
            <a:r>
              <a:rPr lang="fr-FR" sz="2300" u="sng" dirty="0" err="1" smtClean="0"/>
              <a:t>Produre</a:t>
            </a:r>
            <a:r>
              <a:rPr lang="fr-FR" sz="2300" u="sng" dirty="0" smtClean="0"/>
              <a:t> de mise en place de la base :</a:t>
            </a:r>
            <a:endParaRPr lang="fr-FR" sz="2300" dirty="0" smtClean="0"/>
          </a:p>
          <a:p>
            <a:pPr marL="0" indent="0">
              <a:buNone/>
            </a:pPr>
            <a:endParaRPr lang="fr-FR" sz="2300" dirty="0" smtClean="0"/>
          </a:p>
          <a:p>
            <a:pPr marL="0" indent="0">
              <a:buNone/>
            </a:pPr>
            <a:r>
              <a:rPr lang="fr-FR" sz="2300" dirty="0" smtClean="0"/>
              <a:t>- Création des tables avec le </a:t>
            </a:r>
            <a:r>
              <a:rPr lang="fr-FR" sz="2300" dirty="0"/>
              <a:t>script SQL obtenu </a:t>
            </a:r>
            <a:r>
              <a:rPr lang="fr-FR" sz="2300" dirty="0" smtClean="0"/>
              <a:t>sur </a:t>
            </a:r>
            <a:r>
              <a:rPr lang="fr-FR" sz="2300" dirty="0" err="1" smtClean="0"/>
              <a:t>Jmerise</a:t>
            </a:r>
            <a:r>
              <a:rPr lang="fr-FR" sz="2300" dirty="0" smtClean="0"/>
              <a:t> à partir du MLD</a:t>
            </a:r>
            <a:endParaRPr lang="fr-FR" sz="2300" dirty="0"/>
          </a:p>
        </p:txBody>
      </p:sp>
      <p:sp>
        <p:nvSpPr>
          <p:cNvPr id="10" name="Zone de texte 26"/>
          <p:cNvSpPr txBox="1"/>
          <p:nvPr/>
        </p:nvSpPr>
        <p:spPr>
          <a:xfrm>
            <a:off x="716798" y="5102381"/>
            <a:ext cx="6447484" cy="248839"/>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25</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Création de la table </a:t>
            </a:r>
            <a:r>
              <a:rPr lang="fr-FR" sz="1300" i="1" dirty="0" err="1"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reponse_questionnaire</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et insertion de données</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 name="Image 1"/>
          <p:cNvPicPr>
            <a:picLocks noChangeAspect="1"/>
          </p:cNvPicPr>
          <p:nvPr/>
        </p:nvPicPr>
        <p:blipFill>
          <a:blip r:embed="rId3"/>
          <a:stretch>
            <a:fillRect/>
          </a:stretch>
        </p:blipFill>
        <p:spPr>
          <a:xfrm>
            <a:off x="716798" y="1518284"/>
            <a:ext cx="9860628" cy="3269846"/>
          </a:xfrm>
          <a:prstGeom prst="rect">
            <a:avLst/>
          </a:prstGeom>
        </p:spPr>
      </p:pic>
    </p:spTree>
    <p:extLst>
      <p:ext uri="{BB962C8B-B14F-4D97-AF65-F5344CB8AC3E}">
        <p14:creationId xmlns:p14="http://schemas.microsoft.com/office/powerpoint/2010/main" val="34125865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Zone de texte 26"/>
          <p:cNvSpPr txBox="1"/>
          <p:nvPr/>
        </p:nvSpPr>
        <p:spPr>
          <a:xfrm>
            <a:off x="1512916" y="6471466"/>
            <a:ext cx="6447484" cy="248839"/>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26</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Création de la table questionnaires</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Image 3"/>
          <p:cNvPicPr>
            <a:picLocks noChangeAspect="1"/>
          </p:cNvPicPr>
          <p:nvPr/>
        </p:nvPicPr>
        <p:blipFill>
          <a:blip r:embed="rId3"/>
          <a:stretch>
            <a:fillRect/>
          </a:stretch>
        </p:blipFill>
        <p:spPr>
          <a:xfrm>
            <a:off x="1512916" y="173255"/>
            <a:ext cx="7090757" cy="6147740"/>
          </a:xfrm>
          <a:prstGeom prst="rect">
            <a:avLst/>
          </a:prstGeom>
        </p:spPr>
      </p:pic>
    </p:spTree>
    <p:extLst>
      <p:ext uri="{BB962C8B-B14F-4D97-AF65-F5344CB8AC3E}">
        <p14:creationId xmlns:p14="http://schemas.microsoft.com/office/powerpoint/2010/main" val="5093105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687185" y="1737361"/>
            <a:ext cx="11446626" cy="1862048"/>
          </a:xfrm>
          <a:prstGeom prst="rect">
            <a:avLst/>
          </a:prstGeom>
          <a:noFill/>
        </p:spPr>
        <p:txBody>
          <a:bodyPr wrap="square" rtlCol="0">
            <a:spAutoFit/>
          </a:bodyPr>
          <a:lstStyle/>
          <a:p>
            <a:r>
              <a:rPr lang="fr-FR" sz="2300" dirty="0" smtClean="0"/>
              <a:t>- Test d'une insertion de questionnaire en python</a:t>
            </a:r>
          </a:p>
          <a:p>
            <a:endParaRPr lang="fr-FR" sz="2300" dirty="0"/>
          </a:p>
          <a:p>
            <a:r>
              <a:rPr lang="fr-FR" sz="2300" dirty="0" smtClean="0"/>
              <a:t>- Test via </a:t>
            </a:r>
            <a:r>
              <a:rPr lang="fr-FR" sz="2300" dirty="0" err="1" smtClean="0"/>
              <a:t>FastAPI</a:t>
            </a:r>
            <a:endParaRPr lang="fr-FR" sz="2300" dirty="0" smtClean="0"/>
          </a:p>
          <a:p>
            <a:endParaRPr lang="fr-FR" sz="2300" dirty="0"/>
          </a:p>
          <a:p>
            <a:r>
              <a:rPr lang="fr-FR" sz="2300" dirty="0" smtClean="0"/>
              <a:t>- Tester les insertions en base à partir de l'application</a:t>
            </a:r>
            <a:endParaRPr lang="fr-FR" sz="2300" dirty="0"/>
          </a:p>
        </p:txBody>
      </p:sp>
    </p:spTree>
    <p:extLst>
      <p:ext uri="{BB962C8B-B14F-4D97-AF65-F5344CB8AC3E}">
        <p14:creationId xmlns:p14="http://schemas.microsoft.com/office/powerpoint/2010/main" val="22327480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74320" y="224444"/>
            <a:ext cx="11446626" cy="3308598"/>
          </a:xfrm>
          <a:prstGeom prst="rect">
            <a:avLst/>
          </a:prstGeom>
          <a:noFill/>
        </p:spPr>
        <p:txBody>
          <a:bodyPr wrap="square" rtlCol="0">
            <a:spAutoFit/>
          </a:bodyPr>
          <a:lstStyle/>
          <a:p>
            <a:r>
              <a:rPr lang="fr-FR" sz="2500" u="sng" dirty="0" smtClean="0"/>
              <a:t>5.3 Sécurisation et monitorage de l'application</a:t>
            </a:r>
            <a:endParaRPr lang="fr-FR" sz="2500" u="sng" dirty="0"/>
          </a:p>
          <a:p>
            <a:endParaRPr lang="fr-FR" sz="2300" dirty="0" smtClean="0"/>
          </a:p>
          <a:p>
            <a:r>
              <a:rPr lang="fr-FR" sz="2300" dirty="0" smtClean="0"/>
              <a:t>Script de </a:t>
            </a:r>
            <a:r>
              <a:rPr lang="fr-FR" sz="2300" dirty="0" err="1" smtClean="0"/>
              <a:t>tracking</a:t>
            </a:r>
            <a:r>
              <a:rPr lang="fr-FR" sz="2300" dirty="0" smtClean="0"/>
              <a:t> des performances</a:t>
            </a:r>
          </a:p>
          <a:p>
            <a:r>
              <a:rPr lang="fr-FR" sz="2300" dirty="0" smtClean="0"/>
              <a:t>Envoi d'un mail en cas d'erreur</a:t>
            </a:r>
          </a:p>
          <a:p>
            <a:r>
              <a:rPr lang="fr-FR" sz="2300" dirty="0" smtClean="0"/>
              <a:t>Besoin d'un code Google qui est caché dans un fichier .ENV, ignoré lors des push sur </a:t>
            </a:r>
            <a:r>
              <a:rPr lang="fr-FR" sz="2300" dirty="0" err="1" smtClean="0"/>
              <a:t>Github</a:t>
            </a:r>
            <a:r>
              <a:rPr lang="fr-FR" sz="2300" dirty="0" smtClean="0"/>
              <a:t>.</a:t>
            </a:r>
          </a:p>
          <a:p>
            <a:endParaRPr lang="fr-FR" sz="2300" dirty="0"/>
          </a:p>
          <a:p>
            <a:endParaRPr lang="fr-FR" sz="2300" u="sng" dirty="0"/>
          </a:p>
          <a:p>
            <a:r>
              <a:rPr lang="fr-FR" sz="2300" dirty="0" smtClean="0"/>
              <a:t>Effectue des requêtes d'API toutes les 5 secondes, les questionnaires insérés lors des tests sont automatiquement effacés de la base.</a:t>
            </a:r>
          </a:p>
        </p:txBody>
      </p:sp>
    </p:spTree>
    <p:extLst>
      <p:ext uri="{BB962C8B-B14F-4D97-AF65-F5344CB8AC3E}">
        <p14:creationId xmlns:p14="http://schemas.microsoft.com/office/powerpoint/2010/main" val="23845120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45279" y="224443"/>
            <a:ext cx="6665719" cy="2600712"/>
          </a:xfrm>
          <a:prstGeom prst="rect">
            <a:avLst/>
          </a:prstGeom>
          <a:noFill/>
        </p:spPr>
        <p:txBody>
          <a:bodyPr wrap="square" rtlCol="0">
            <a:spAutoFit/>
          </a:bodyPr>
          <a:lstStyle/>
          <a:p>
            <a:r>
              <a:rPr lang="fr-FR" sz="2500" u="sng" dirty="0" smtClean="0"/>
              <a:t>5.5 Tests automatisés</a:t>
            </a:r>
          </a:p>
          <a:p>
            <a:endParaRPr lang="fr-FR" sz="2300" u="sng" dirty="0"/>
          </a:p>
          <a:p>
            <a:r>
              <a:rPr lang="fr-FR" sz="2300" dirty="0" smtClean="0"/>
              <a:t>Fichier .</a:t>
            </a:r>
            <a:r>
              <a:rPr lang="fr-FR" sz="2300" dirty="0" err="1" smtClean="0"/>
              <a:t>yml</a:t>
            </a:r>
            <a:r>
              <a:rPr lang="fr-FR" sz="2300" dirty="0" smtClean="0"/>
              <a:t> à la racine du répertoire </a:t>
            </a:r>
            <a:r>
              <a:rPr lang="fr-FR" sz="2300" dirty="0" err="1" smtClean="0"/>
              <a:t>Github</a:t>
            </a:r>
            <a:r>
              <a:rPr lang="fr-FR" sz="2300" dirty="0" smtClean="0"/>
              <a:t>.</a:t>
            </a:r>
          </a:p>
          <a:p>
            <a:endParaRPr lang="fr-FR" sz="2300" dirty="0" smtClean="0"/>
          </a:p>
          <a:p>
            <a:r>
              <a:rPr lang="fr-FR" sz="2300" dirty="0" smtClean="0"/>
              <a:t>Le fichier lance le script de test </a:t>
            </a:r>
            <a:r>
              <a:rPr lang="fr-FR" sz="2300" dirty="0" err="1" smtClean="0"/>
              <a:t>Pytest</a:t>
            </a:r>
            <a:r>
              <a:rPr lang="fr-FR" sz="2300" dirty="0" smtClean="0"/>
              <a:t> à chaque push et pull sur </a:t>
            </a:r>
            <a:r>
              <a:rPr lang="fr-FR" sz="2300" dirty="0" err="1" smtClean="0"/>
              <a:t>github</a:t>
            </a:r>
            <a:r>
              <a:rPr lang="fr-FR" sz="2300" dirty="0" smtClean="0"/>
              <a:t>.</a:t>
            </a:r>
            <a:endParaRPr lang="fr-FR" sz="2300" dirty="0"/>
          </a:p>
          <a:p>
            <a:endParaRPr lang="fr-FR" sz="2300" dirty="0" smtClean="0"/>
          </a:p>
        </p:txBody>
      </p:sp>
      <p:pic>
        <p:nvPicPr>
          <p:cNvPr id="3" name="Image 2"/>
          <p:cNvPicPr>
            <a:picLocks noChangeAspect="1"/>
          </p:cNvPicPr>
          <p:nvPr/>
        </p:nvPicPr>
        <p:blipFill>
          <a:blip r:embed="rId3"/>
          <a:stretch>
            <a:fillRect/>
          </a:stretch>
        </p:blipFill>
        <p:spPr>
          <a:xfrm>
            <a:off x="6939978" y="224444"/>
            <a:ext cx="4222202" cy="6054783"/>
          </a:xfrm>
          <a:prstGeom prst="rect">
            <a:avLst/>
          </a:prstGeom>
        </p:spPr>
      </p:pic>
      <p:sp>
        <p:nvSpPr>
          <p:cNvPr id="4" name="Zone de texte 26"/>
          <p:cNvSpPr txBox="1"/>
          <p:nvPr/>
        </p:nvSpPr>
        <p:spPr>
          <a:xfrm>
            <a:off x="7020369" y="6506612"/>
            <a:ext cx="6447484" cy="248839"/>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noAutofit/>
          </a:bodyPr>
          <a:lstStyle/>
          <a:p>
            <a:pPr>
              <a:spcAft>
                <a:spcPts val="1000"/>
              </a:spcAft>
            </a:pP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Figure </a:t>
            </a:r>
            <a:r>
              <a:rPr lang="fr-FR" sz="1300" i="1" dirty="0" smtClean="0">
                <a:solidFill>
                  <a:srgbClr val="44546A"/>
                </a:solidFill>
                <a:latin typeface="Calibri" panose="020F0502020204030204" pitchFamily="34" charset="0"/>
                <a:ea typeface="Calibri" panose="020F0502020204030204" pitchFamily="34" charset="0"/>
                <a:cs typeface="Times New Roman" panose="02020603050405020304" pitchFamily="18" charset="0"/>
              </a:rPr>
              <a:t>27</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Fichier .</a:t>
            </a:r>
            <a:r>
              <a:rPr lang="fr-FR" sz="1300" i="1" dirty="0" err="1"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yml</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pour </a:t>
            </a:r>
            <a:r>
              <a:rPr lang="fr-FR" sz="1300" i="1" dirty="0" err="1"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Github</a:t>
            </a:r>
            <a:r>
              <a:rPr lang="fr-FR" sz="1300" i="1" dirty="0" smtClean="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actions</a:t>
            </a:r>
            <a:endParaRPr lang="fr-FR" sz="13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618058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06433" y="198871"/>
            <a:ext cx="10515600" cy="723842"/>
          </a:xfrm>
        </p:spPr>
        <p:txBody>
          <a:bodyPr/>
          <a:lstStyle/>
          <a:p>
            <a:r>
              <a:rPr lang="fr-FR" dirty="0" smtClean="0"/>
              <a:t>Références</a:t>
            </a:r>
            <a:endParaRPr lang="fr-FR" dirty="0"/>
          </a:p>
        </p:txBody>
      </p:sp>
      <p:sp>
        <p:nvSpPr>
          <p:cNvPr id="3" name="Espace réservé du contenu 2"/>
          <p:cNvSpPr>
            <a:spLocks noGrp="1"/>
          </p:cNvSpPr>
          <p:nvPr>
            <p:ph idx="1"/>
          </p:nvPr>
        </p:nvSpPr>
        <p:spPr>
          <a:xfrm>
            <a:off x="314498" y="1285297"/>
            <a:ext cx="10515600" cy="5373197"/>
          </a:xfrm>
        </p:spPr>
        <p:txBody>
          <a:bodyPr/>
          <a:lstStyle/>
          <a:p>
            <a:pPr marL="0" indent="0">
              <a:buNone/>
            </a:pPr>
            <a:r>
              <a:rPr lang="fr-FR" sz="1200" u="sng" dirty="0" smtClean="0"/>
              <a:t>Contexte :</a:t>
            </a:r>
          </a:p>
          <a:p>
            <a:r>
              <a:rPr lang="fr-FR" sz="1200" dirty="0" smtClean="0"/>
              <a:t>https</a:t>
            </a:r>
            <a:r>
              <a:rPr lang="fr-FR" sz="1200" dirty="0"/>
              <a:t>://</a:t>
            </a:r>
            <a:r>
              <a:rPr lang="fr-FR" sz="1200" dirty="0" smtClean="0"/>
              <a:t>www.who.int/fr/news/item/02-03-2022-covid-19-pandemic-triggers-25-increase-in-prevalence-of-anxiety-and-depression-worldwide</a:t>
            </a:r>
          </a:p>
          <a:p>
            <a:r>
              <a:rPr lang="fr-FR" sz="1200" dirty="0"/>
              <a:t>https://</a:t>
            </a:r>
            <a:r>
              <a:rPr lang="fr-FR" sz="1200" dirty="0" smtClean="0"/>
              <a:t>www.ipsos.com/fr-fr/le-monde-en-chiffres-la-sante-mentale-des-francais</a:t>
            </a:r>
          </a:p>
          <a:p>
            <a:pPr marL="0" indent="0">
              <a:buNone/>
            </a:pPr>
            <a:endParaRPr lang="fr-FR" sz="1200" dirty="0"/>
          </a:p>
          <a:p>
            <a:pPr marL="0" indent="0">
              <a:buNone/>
            </a:pPr>
            <a:r>
              <a:rPr lang="fr-FR" sz="1200" u="sng" dirty="0" err="1" smtClean="0"/>
              <a:t>Dataset</a:t>
            </a:r>
            <a:r>
              <a:rPr lang="fr-FR" sz="1200" u="sng" dirty="0" smtClean="0"/>
              <a:t> :</a:t>
            </a:r>
            <a:r>
              <a:rPr lang="fr-FR" sz="1200" dirty="0" smtClean="0"/>
              <a:t> </a:t>
            </a:r>
          </a:p>
          <a:p>
            <a:r>
              <a:rPr lang="fr-FR" sz="1200" dirty="0" smtClean="0"/>
              <a:t>https</a:t>
            </a:r>
            <a:r>
              <a:rPr lang="fr-FR" sz="1200" dirty="0"/>
              <a:t>://</a:t>
            </a:r>
            <a:r>
              <a:rPr lang="fr-FR" sz="1200" dirty="0" smtClean="0"/>
              <a:t>www.kaggle.com/datasets/osmi/mental-health-in-tech-survey/data</a:t>
            </a:r>
          </a:p>
          <a:p>
            <a:pPr marL="0" indent="0">
              <a:buNone/>
            </a:pPr>
            <a:endParaRPr lang="fr-FR" sz="1200" dirty="0" smtClean="0"/>
          </a:p>
          <a:p>
            <a:pPr marL="0" indent="0">
              <a:buNone/>
            </a:pPr>
            <a:r>
              <a:rPr lang="fr-FR" sz="1200" u="sng" dirty="0" smtClean="0"/>
              <a:t>Références veille technique :</a:t>
            </a:r>
          </a:p>
          <a:p>
            <a:r>
              <a:rPr lang="fr-FR" sz="1200" dirty="0"/>
              <a:t>https://datascientest.com/algorithme-de-classification-definition-et-principaux-modeles.</a:t>
            </a:r>
          </a:p>
          <a:p>
            <a:r>
              <a:rPr lang="fr-FR" sz="1200" dirty="0" err="1"/>
              <a:t>Machine_learnia</a:t>
            </a:r>
            <a:r>
              <a:rPr lang="fr-FR" sz="1200" dirty="0"/>
              <a:t>. </a:t>
            </a:r>
            <a:r>
              <a:rPr lang="fr-FR" sz="1200" dirty="0" smtClean="0"/>
              <a:t>https</a:t>
            </a:r>
            <a:r>
              <a:rPr lang="fr-FR" sz="1200" dirty="0"/>
              <a:t>://www.youtube.com/watch?v=EUD07IiviJg&amp;list=PLO_fdPEVlfKqUF5BPKjGSh7aV9aBshrpY.</a:t>
            </a:r>
          </a:p>
          <a:p>
            <a:r>
              <a:rPr lang="fr-FR" sz="1200" dirty="0" err="1"/>
              <a:t>ChatGPT</a:t>
            </a:r>
            <a:r>
              <a:rPr lang="fr-FR" sz="1200" dirty="0"/>
              <a:t>. </a:t>
            </a:r>
            <a:r>
              <a:rPr lang="fr-FR" sz="1200" dirty="0" smtClean="0"/>
              <a:t>https</a:t>
            </a:r>
            <a:r>
              <a:rPr lang="fr-FR" sz="1200" dirty="0"/>
              <a:t>://chat.openai.com</a:t>
            </a:r>
            <a:r>
              <a:rPr lang="fr-FR" sz="1200" dirty="0"/>
              <a:t>/.</a:t>
            </a:r>
          </a:p>
          <a:p>
            <a:r>
              <a:rPr lang="fr-FR" sz="1200" dirty="0" err="1"/>
              <a:t>Statquest</a:t>
            </a:r>
            <a:r>
              <a:rPr lang="fr-FR" sz="1200" dirty="0"/>
              <a:t>. </a:t>
            </a:r>
            <a:r>
              <a:rPr lang="fr-FR" sz="1200" dirty="0" smtClean="0"/>
              <a:t>https</a:t>
            </a:r>
            <a:r>
              <a:rPr lang="fr-FR" sz="1200" dirty="0"/>
              <a:t>://www.youtube.com/watch?v=_L39rN6gz7Y&amp;t=813s</a:t>
            </a:r>
          </a:p>
        </p:txBody>
      </p:sp>
    </p:spTree>
    <p:extLst>
      <p:ext uri="{BB962C8B-B14F-4D97-AF65-F5344CB8AC3E}">
        <p14:creationId xmlns:p14="http://schemas.microsoft.com/office/powerpoint/2010/main" val="15108014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993" y="140681"/>
            <a:ext cx="10515600" cy="682279"/>
          </a:xfrm>
        </p:spPr>
        <p:txBody>
          <a:bodyPr/>
          <a:lstStyle/>
          <a:p>
            <a:r>
              <a:rPr lang="fr-FR" dirty="0" smtClean="0"/>
              <a:t>Annexe</a:t>
            </a:r>
            <a:endParaRPr lang="fr-FR" dirty="0"/>
          </a:p>
        </p:txBody>
      </p:sp>
      <p:sp>
        <p:nvSpPr>
          <p:cNvPr id="3" name="Espace réservé du contenu 2"/>
          <p:cNvSpPr>
            <a:spLocks noGrp="1"/>
          </p:cNvSpPr>
          <p:nvPr>
            <p:ph idx="1"/>
          </p:nvPr>
        </p:nvSpPr>
        <p:spPr>
          <a:xfrm>
            <a:off x="114993" y="919537"/>
            <a:ext cx="10515600" cy="5772208"/>
          </a:xfrm>
        </p:spPr>
        <p:txBody>
          <a:bodyPr>
            <a:noAutofit/>
          </a:bodyPr>
          <a:lstStyle/>
          <a:p>
            <a:pPr marL="0" indent="0">
              <a:buNone/>
            </a:pPr>
            <a:r>
              <a:rPr lang="fr-FR" sz="1200" u="sng" dirty="0" smtClean="0"/>
              <a:t>Comptes rendus d'avancement</a:t>
            </a:r>
          </a:p>
          <a:p>
            <a:pPr marL="0" indent="0">
              <a:buNone/>
            </a:pPr>
            <a:r>
              <a:rPr lang="fr-FR" sz="1200" dirty="0" smtClean="0"/>
              <a:t>Les </a:t>
            </a:r>
            <a:r>
              <a:rPr lang="fr-FR" sz="1200" dirty="0"/>
              <a:t>réunions se sont déroulées les jeudis, à 14 heures, avec le Pr René Gallimard et Pr Hervé </a:t>
            </a:r>
            <a:r>
              <a:rPr lang="fr-FR" sz="1200" dirty="0" err="1"/>
              <a:t>Ducroc</a:t>
            </a:r>
            <a:r>
              <a:rPr lang="fr-FR" sz="1200" dirty="0" smtClean="0"/>
              <a:t>.</a:t>
            </a:r>
            <a:endParaRPr lang="fr-FR" sz="1200" dirty="0"/>
          </a:p>
          <a:p>
            <a:pPr marL="0" indent="0">
              <a:buNone/>
            </a:pPr>
            <a:r>
              <a:rPr lang="fr-FR" sz="1200" u="sng" dirty="0"/>
              <a:t>Rapport 1, 29 février</a:t>
            </a:r>
            <a:endParaRPr lang="fr-FR" sz="1200" dirty="0"/>
          </a:p>
          <a:p>
            <a:pPr marL="0" indent="0">
              <a:buNone/>
            </a:pPr>
            <a:r>
              <a:rPr lang="fr-FR" sz="1200" dirty="0"/>
              <a:t>Présentation du fichier d'analyse exploratoire des données :</a:t>
            </a:r>
          </a:p>
          <a:p>
            <a:pPr marL="0" indent="0">
              <a:buNone/>
            </a:pPr>
            <a:r>
              <a:rPr lang="fr-FR" sz="1200" dirty="0"/>
              <a:t>		- Stratégie adoptée pour les valeurs manquantes, colonnes inutiles, lignes supprimées, simplification de la colonne "Genre".</a:t>
            </a:r>
          </a:p>
          <a:p>
            <a:pPr marL="0" indent="0">
              <a:buNone/>
            </a:pPr>
            <a:r>
              <a:rPr lang="fr-FR" sz="1200" dirty="0"/>
              <a:t>		- Graphiques de représentation des données et interprétation</a:t>
            </a:r>
          </a:p>
          <a:p>
            <a:pPr marL="0" indent="0">
              <a:buNone/>
            </a:pPr>
            <a:r>
              <a:rPr lang="fr-FR" sz="1200" dirty="0"/>
              <a:t>		- Résumé des stratégie adaptées (script python)</a:t>
            </a:r>
          </a:p>
          <a:p>
            <a:pPr marL="0" indent="0">
              <a:buNone/>
            </a:pPr>
            <a:r>
              <a:rPr lang="fr-FR" sz="1200" dirty="0"/>
              <a:t>Nous nous sommes mis d'accord sur les stratégies adoptées de nettoyage de données, nous avons exploré ensemble les résultats de l'analyse exploratoire des données.  </a:t>
            </a:r>
          </a:p>
          <a:p>
            <a:pPr marL="0" indent="0">
              <a:buNone/>
            </a:pPr>
            <a:r>
              <a:rPr lang="fr-FR" sz="1200" dirty="0"/>
              <a:t> </a:t>
            </a:r>
          </a:p>
          <a:p>
            <a:pPr marL="0" indent="0">
              <a:buNone/>
            </a:pPr>
            <a:r>
              <a:rPr lang="fr-FR" sz="1200" u="sng" dirty="0"/>
              <a:t>Rapport 2, 7 mars</a:t>
            </a:r>
            <a:endParaRPr lang="fr-FR" sz="1200" dirty="0"/>
          </a:p>
          <a:p>
            <a:pPr marL="0" indent="0">
              <a:buNone/>
            </a:pPr>
            <a:r>
              <a:rPr lang="fr-FR" sz="1200" dirty="0"/>
              <a:t>Présentation de l'entraînement du modèle et des résultats :</a:t>
            </a:r>
          </a:p>
          <a:p>
            <a:pPr marL="0" indent="0">
              <a:buNone/>
            </a:pPr>
            <a:r>
              <a:rPr lang="fr-FR" sz="1200" dirty="0"/>
              <a:t>		- Vulgarisation du machine </a:t>
            </a:r>
            <a:r>
              <a:rPr lang="fr-FR" sz="1200" dirty="0" err="1"/>
              <a:t>learning</a:t>
            </a:r>
            <a:endParaRPr lang="fr-FR" sz="1200" dirty="0"/>
          </a:p>
          <a:p>
            <a:pPr marL="0" indent="0">
              <a:buNone/>
            </a:pPr>
            <a:r>
              <a:rPr lang="fr-FR" sz="1200" dirty="0"/>
              <a:t>		- Présentation des résultats </a:t>
            </a:r>
          </a:p>
          <a:p>
            <a:pPr marL="0" indent="0">
              <a:buNone/>
            </a:pPr>
            <a:r>
              <a:rPr lang="fr-FR" sz="1200" dirty="0"/>
              <a:t>		- Présentation d'un test</a:t>
            </a:r>
          </a:p>
          <a:p>
            <a:pPr marL="0" indent="0">
              <a:buNone/>
            </a:pPr>
            <a:r>
              <a:rPr lang="fr-FR" sz="1200" dirty="0"/>
              <a:t>Lors de l'analyse des résultats, les professeurs ont cherché à savoir le fonctionnement interne du meilleur modèle, à savoir régression logistique, je me suis donc informé et leur ai présenté son fonctionnement.</a:t>
            </a:r>
          </a:p>
          <a:p>
            <a:pPr marL="0" indent="0">
              <a:buNone/>
            </a:pPr>
            <a:r>
              <a:rPr lang="fr-FR" sz="1200" dirty="0"/>
              <a:t> </a:t>
            </a:r>
          </a:p>
          <a:p>
            <a:pPr marL="0" indent="0">
              <a:buNone/>
            </a:pPr>
            <a:r>
              <a:rPr lang="fr-FR" sz="1200" u="sng" dirty="0"/>
              <a:t>Rapport 3, 28 mars</a:t>
            </a:r>
            <a:endParaRPr lang="fr-FR" sz="1200" dirty="0"/>
          </a:p>
          <a:p>
            <a:pPr marL="0" indent="0">
              <a:buNone/>
            </a:pPr>
            <a:r>
              <a:rPr lang="fr-FR" sz="1200" dirty="0"/>
              <a:t>Présentation de l'application fonctionnelle :</a:t>
            </a:r>
          </a:p>
          <a:p>
            <a:pPr marL="0" indent="0">
              <a:buNone/>
            </a:pPr>
            <a:r>
              <a:rPr lang="fr-FR" sz="1200" dirty="0"/>
              <a:t>Nous avons vu ensemble si le produit fini était conforme aux attentes, nous avons discuté du fait d'intégrer un niveau de certitude dans les prédictions.</a:t>
            </a:r>
          </a:p>
          <a:p>
            <a:pPr marL="0" indent="0">
              <a:buNone/>
            </a:pPr>
            <a:endParaRPr lang="fr-FR" sz="1200" dirty="0"/>
          </a:p>
        </p:txBody>
      </p:sp>
    </p:spTree>
    <p:extLst>
      <p:ext uri="{BB962C8B-B14F-4D97-AF65-F5344CB8AC3E}">
        <p14:creationId xmlns:p14="http://schemas.microsoft.com/office/powerpoint/2010/main" val="19457351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89807" y="296083"/>
            <a:ext cx="10515600" cy="5373197"/>
          </a:xfrm>
        </p:spPr>
        <p:txBody>
          <a:bodyPr/>
          <a:lstStyle/>
          <a:p>
            <a:pPr marL="0" indent="0">
              <a:buNone/>
            </a:pPr>
            <a:r>
              <a:rPr lang="fr-FR" sz="2000" u="sng" dirty="0" smtClean="0"/>
              <a:t>Exemple de requêtes sur la BDD analytique (C2) :</a:t>
            </a:r>
          </a:p>
          <a:p>
            <a:pPr marL="0" indent="0">
              <a:buNone/>
            </a:pPr>
            <a:endParaRPr lang="fr-FR" sz="1200" dirty="0"/>
          </a:p>
        </p:txBody>
      </p:sp>
      <p:pic>
        <p:nvPicPr>
          <p:cNvPr id="4" name="Image 3"/>
          <p:cNvPicPr>
            <a:picLocks noChangeAspect="1"/>
          </p:cNvPicPr>
          <p:nvPr/>
        </p:nvPicPr>
        <p:blipFill>
          <a:blip r:embed="rId2"/>
          <a:stretch>
            <a:fillRect/>
          </a:stretch>
        </p:blipFill>
        <p:spPr>
          <a:xfrm>
            <a:off x="256310" y="782866"/>
            <a:ext cx="8486775" cy="1152525"/>
          </a:xfrm>
          <a:prstGeom prst="rect">
            <a:avLst/>
          </a:prstGeom>
        </p:spPr>
      </p:pic>
    </p:spTree>
    <p:extLst>
      <p:ext uri="{BB962C8B-B14F-4D97-AF65-F5344CB8AC3E}">
        <p14:creationId xmlns:p14="http://schemas.microsoft.com/office/powerpoint/2010/main" val="4003701103"/>
      </p:ext>
    </p:extLst>
  </p:cSld>
  <p:clrMapOvr>
    <a:masterClrMapping/>
  </p:clrMapOvr>
</p:sld>
</file>

<file path=ppt/theme/theme1.xml><?xml version="1.0" encoding="utf-8"?>
<a:theme xmlns:a="http://schemas.openxmlformats.org/drawingml/2006/main" name="Thème Office">
  <a:themeElements>
    <a:clrScheme name="ma couleur">
      <a:dk1>
        <a:srgbClr val="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2481BA"/>
      </a:hlink>
      <a:folHlink>
        <a:srgbClr val="B4176D"/>
      </a:folHlink>
    </a:clrScheme>
    <a:fontScheme name="Personnalisé 1">
      <a:majorFont>
        <a:latin typeface="Calibri Light"/>
        <a:ea typeface=""/>
        <a:cs typeface=""/>
      </a:majorFont>
      <a:minorFont>
        <a:latin typeface="Calibri"/>
        <a:ea typeface=""/>
        <a:cs typeface=""/>
      </a:minorFont>
    </a:fontScheme>
    <a:fmtScheme name="Coin lumineux">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iapo" id="{5C2DFD65-32EA-419D-A3BB-73EA94B127E4}" vid="{4352638B-D918-4A4B-B4E0-B60BF4A61688}"/>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mon modele</Template>
  <TotalTime>352</TotalTime>
  <Words>1636</Words>
  <Application>Microsoft Office PowerPoint</Application>
  <PresentationFormat>Grand écran</PresentationFormat>
  <Paragraphs>265</Paragraphs>
  <Slides>33</Slides>
  <Notes>28</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33</vt:i4>
      </vt:variant>
    </vt:vector>
  </HeadingPairs>
  <TitlesOfParts>
    <vt:vector size="38" baseType="lpstr">
      <vt:lpstr>Arial</vt:lpstr>
      <vt:lpstr>Calibri</vt:lpstr>
      <vt:lpstr>Calibri Light</vt:lpstr>
      <vt:lpstr>Times New Roman</vt:lpstr>
      <vt:lpstr>Thème Office</vt:lpstr>
      <vt:lpstr>Présentation du projet chef d’œuvre</vt:lpstr>
      <vt:lpstr>1. Introduction</vt:lpstr>
      <vt:lpstr>Présentation PowerPoint</vt:lpstr>
      <vt:lpstr>Présentation PowerPoint</vt:lpstr>
      <vt:lpstr>Présentation PowerPoint</vt:lpstr>
      <vt:lpstr>Présentation PowerPoint</vt:lpstr>
      <vt:lpstr>2. Analyse de la demande</vt:lpstr>
      <vt:lpstr>Présentation PowerPoint</vt:lpstr>
      <vt:lpstr>3. Développer la gestion des données analytiques d'un projet d'application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4. Développer un programme d'intelligence artificielle</vt:lpstr>
      <vt:lpstr>Présentation PowerPoint</vt:lpstr>
      <vt:lpstr>Présentation PowerPoint</vt:lpstr>
      <vt:lpstr>Présentation PowerPoint</vt:lpstr>
      <vt:lpstr>Présentation PowerPoint</vt:lpstr>
      <vt:lpstr>5. Développer une application d'intelligence artificielle</vt:lpstr>
      <vt:lpstr>Présentation PowerPoint</vt:lpstr>
      <vt:lpstr>Présentation PowerPoint</vt:lpstr>
      <vt:lpstr>Présentation PowerPoint</vt:lpstr>
      <vt:lpstr>Présentation PowerPoint</vt:lpstr>
      <vt:lpstr>Présentation PowerPoint</vt:lpstr>
      <vt:lpstr>Présentation PowerPoint</vt:lpstr>
      <vt:lpstr>Références</vt:lpstr>
      <vt:lpstr>Annexe</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du projet chef d’œuvre</dc:title>
  <dc:creator>Geoffroy Daumer</dc:creator>
  <cp:lastModifiedBy>DAUMER GEOFFROY</cp:lastModifiedBy>
  <cp:revision>32</cp:revision>
  <dcterms:created xsi:type="dcterms:W3CDTF">2024-03-18T21:34:55Z</dcterms:created>
  <dcterms:modified xsi:type="dcterms:W3CDTF">2024-03-22T17:00:14Z</dcterms:modified>
</cp:coreProperties>
</file>